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1371600" y="10972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132320" y="12801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71600" y="18288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Service Management Platform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Text 6"/>
          <p:cNvSpPr/>
          <p:nvPr/>
        </p:nvSpPr>
        <p:spPr>
          <a:xfrm>
            <a:off x="731520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Marzo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10.726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Righe di Codice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Text 7"/>
          <p:cNvSpPr/>
          <p:nvPr/>
        </p:nvSpPr>
        <p:spPr>
          <a:xfrm>
            <a:off x="3429000" y="11430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155/155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429000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Test PASS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6217920" y="11430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217920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Tabelle Database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731520" y="2468880"/>
            <a:ext cx="77724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 v1.0 è una piattaforma Field Service Management completa per MRS Lely Center, costruita su Cloudflare Workers e Supabase PostgreSQL. Offre dashboard amministrativa, app mobile PWA per tecnici, bot Telegram con AI, gestione intelligente di urgenze e pianificazione, con 155 test UAT che passano completamente.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Sfida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!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Coordinamento manuale dei tecnici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7" name="Text 5"/>
          <p:cNvSpPr/>
          <p:nvPr/>
        </p:nvSpPr>
        <p:spPr>
          <a:xfrm>
            <a:off x="457200" y="1417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!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tracking urgenze in tempo reale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45720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!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18288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non monitorati automaticamente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457200" y="22402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!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4400" y="22402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Comunicazione frammentata tra canali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5029200" y="12801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4h+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5029200" y="20116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medio di risposta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Syntoniqa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Necessità: automazione, visibilità in tempo reale, comunicazione unificata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 — La Soluzione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Shape 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Admin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Analytics, KPI, gestione risorse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Shape 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PWA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Tecnici: interventi, mappa, chat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4" name="Shape 1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Text 14"/>
          <p:cNvSpPr/>
          <p:nvPr/>
        </p:nvSpPr>
        <p:spPr>
          <a:xfrm>
            <a:off x="64008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Bot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/vado /incorso /risolto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9" name="Shape 1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0" name="Shape 1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1" name="Text 19"/>
          <p:cNvSpPr/>
          <p:nvPr/>
        </p:nvSpPr>
        <p:spPr>
          <a:xfrm>
            <a:off x="493776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Planner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937760" y="36118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Ottimizzazione vincoli e competenze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Architettura di Sistema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Text 2"/>
          <p:cNvSpPr/>
          <p:nvPr/>
        </p:nvSpPr>
        <p:spPr>
          <a:xfrm>
            <a:off x="1097280" y="8686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Dashboard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6" name="Text 4"/>
          <p:cNvSpPr/>
          <p:nvPr/>
        </p:nvSpPr>
        <p:spPr>
          <a:xfrm>
            <a:off x="4114800" y="8686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Mobile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PWA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Text 6"/>
          <p:cNvSpPr/>
          <p:nvPr/>
        </p:nvSpPr>
        <p:spPr>
          <a:xfrm>
            <a:off x="7132320" y="8686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Telegram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Shape 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2560320" y="20574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Cloudflare Workers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2423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98 API endpoints + 2 Cron jobs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1371600" y="33375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Supabase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9" name="Text 17"/>
          <p:cNvSpPr/>
          <p:nvPr/>
        </p:nvSpPr>
        <p:spPr>
          <a:xfrm>
            <a:off x="5943600" y="33375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Services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tabelle | Zero dipendenze runtime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 Urgenze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Text 2"/>
          <p:cNvSpPr/>
          <p:nvPr/>
        </p:nvSpPr>
        <p:spPr>
          <a:xfrm>
            <a:off x="708660" y="1097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aperta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7" name="Text 5"/>
          <p:cNvSpPr/>
          <p:nvPr/>
        </p:nvSpPr>
        <p:spPr>
          <a:xfrm>
            <a:off x="2034540" y="1097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assegnata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3360420" y="1097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schedulata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4686300" y="1097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in_corso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Text 14"/>
          <p:cNvSpPr/>
          <p:nvPr/>
        </p:nvSpPr>
        <p:spPr>
          <a:xfrm>
            <a:off x="6012180" y="1097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risolta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8" name="Shape 1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9" name="Text 17"/>
          <p:cNvSpPr/>
          <p:nvPr/>
        </p:nvSpPr>
        <p:spPr>
          <a:xfrm>
            <a:off x="7338060" y="1097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chiusa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1" name="Shape 1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2" name="Text 20"/>
          <p:cNvSpPr/>
          <p:nvPr/>
        </p:nvSpPr>
        <p:spPr>
          <a:xfrm>
            <a:off x="1097280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Automazione SLA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97280" y="251460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automatico di scadenze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5" name="Shape 2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6" name="Text 24"/>
          <p:cNvSpPr/>
          <p:nvPr/>
        </p:nvSpPr>
        <p:spPr>
          <a:xfrm>
            <a:off x="3840480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840480" y="251460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per ritardi &gt;4h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9" name="Shape 2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30" name="Text 28"/>
          <p:cNvSpPr/>
          <p:nvPr/>
        </p:nvSpPr>
        <p:spPr>
          <a:xfrm>
            <a:off x="6583680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583680" y="251460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+ Email + Push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Piano Interventi Intelligente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Text 2"/>
          <p:cNvSpPr/>
          <p:nvPr/>
        </p:nvSpPr>
        <p:spPr>
          <a:xfrm>
            <a:off x="1097280" y="1005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pianificato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7" name="Text 5"/>
          <p:cNvSpPr/>
          <p:nvPr/>
        </p:nvSpPr>
        <p:spPr>
          <a:xfrm>
            <a:off x="1097280" y="1691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in_corso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109728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completato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4297680" y="1143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Planner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9120" y="14630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Vincoli + Disponibilità + Competenze → Piano Ottimizzato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Text 14"/>
          <p:cNvSpPr/>
          <p:nvPr/>
        </p:nvSpPr>
        <p:spPr>
          <a:xfrm>
            <a:off x="4572000" y="2194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Regole Team (junior con senior)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8" name="Text 16"/>
          <p:cNvSpPr/>
          <p:nvPr/>
        </p:nvSpPr>
        <p:spPr>
          <a:xfrm>
            <a:off x="4572000" y="2606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Zone Emilia-Romagna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0" name="Text 18"/>
          <p:cNvSpPr/>
          <p:nvPr/>
        </p:nvSpPr>
        <p:spPr>
          <a:xfrm>
            <a:off x="457200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Competenze tecniche vs asset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Oltre 1000 interventi pianificati + 100+ urgenze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PWA Mobile Tecnico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Shape 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6" name="Text 4"/>
          <p:cNvSpPr/>
          <p:nvPr/>
        </p:nvSpPr>
        <p:spPr>
          <a:xfrm>
            <a:off x="914400" y="141732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30A14"/>
                </a:solidFill>
              </a:rPr>
              <a:t>SYNTONIQA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Text 6"/>
          <p:cNvSpPr/>
          <p:nvPr/>
        </p:nvSpPr>
        <p:spPr>
          <a:xfrm>
            <a:off x="3474720" y="1005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Home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1325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Dashboard personale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1" name="Text 9"/>
          <p:cNvSpPr/>
          <p:nvPr/>
        </p:nvSpPr>
        <p:spPr>
          <a:xfrm>
            <a:off x="3474720" y="1691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Urgenze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Assegnate e disponibili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4" name="Text 12"/>
          <p:cNvSpPr/>
          <p:nvPr/>
        </p:nvSpPr>
        <p:spPr>
          <a:xfrm>
            <a:off x="347472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Calendario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Pianificazione settimanale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3474720" y="3063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Mappa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Localizzazione tecnici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0" name="Text 18"/>
          <p:cNvSpPr/>
          <p:nvPr/>
        </p:nvSpPr>
        <p:spPr>
          <a:xfrm>
            <a:off x="3474720" y="3749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Profilo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74720" y="4069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Dati personali e team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2071 righe | 17 pagine | Bottom navigation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 Bot Integration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Disponibili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/vado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2024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Visualizza urgenze aperte (top 5)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/vado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Prendi urgenza #2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148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/incorso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21488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Segna urgenza in corso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468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/risolto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468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Chiudi urgenza con note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7889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/oggi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2788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Interventi di oggi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/ordine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Crea ordine ricambi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9" name="Shape 1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0" name="Text 18"/>
          <p:cNvSpPr/>
          <p:nvPr/>
        </p:nvSpPr>
        <p:spPr>
          <a:xfrm>
            <a:off x="4937760" y="1143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Media Analysis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0" y="150876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</a:rPr>
              <a:t>Foto o testo libero → Gemini AI analizza → Azione automatica creata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3" name="Text 21"/>
          <p:cNvSpPr/>
          <p:nvPr/>
        </p:nvSpPr>
        <p:spPr>
          <a:xfrm>
            <a:off x="5394960" y="24231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Riconoscimento problemi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5" name="Text 23"/>
          <p:cNvSpPr/>
          <p:nvPr/>
        </p:nvSpPr>
        <p:spPr>
          <a:xfrm>
            <a:off x="53949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Estrazione dati dalle immagini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7" name="Text 25"/>
          <p:cNvSpPr/>
          <p:nvPr/>
        </p:nvSpPr>
        <p:spPr>
          <a:xfrm>
            <a:off x="5394960" y="3154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Suggerimento azioni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9" name="Text 27"/>
          <p:cNvSpPr/>
          <p:nvPr/>
        </p:nvSpPr>
        <p:spPr>
          <a:xfrm>
            <a:off x="5394960" y="35204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Link a ricambi correlati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Telegram per assegnamenti, escalation, aggiornamenti ordini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Ordini Ricambi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richiesto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7" name="Text 5"/>
          <p:cNvSpPr/>
          <p:nvPr/>
        </p:nvSpPr>
        <p:spPr>
          <a:xfrm>
            <a:off x="2834640" y="1005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approvato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4937760" y="1005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ordinato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7040880" y="1005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consegnato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Text 14"/>
          <p:cNvSpPr/>
          <p:nvPr/>
        </p:nvSpPr>
        <p:spPr>
          <a:xfrm>
            <a:off x="640080" y="2148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Tempo Reale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251460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ordine aggiornato live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9" name="Shape 1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0" name="Text 18"/>
          <p:cNvSpPr/>
          <p:nvPr/>
        </p:nvSpPr>
        <p:spPr>
          <a:xfrm>
            <a:off x="3566160" y="2148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Automatiche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566160" y="251460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 notificato su ogni cambio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3" name="Shape 2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4" name="Text 22"/>
          <p:cNvSpPr/>
          <p:nvPr/>
        </p:nvSpPr>
        <p:spPr>
          <a:xfrm>
            <a:off x="6492240" y="2148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Storico Completo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92240" y="251460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Archivio ordinato per cliente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Mappa Operativa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21031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Bologna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7" name="Text 5"/>
          <p:cNvSpPr/>
          <p:nvPr/>
        </p:nvSpPr>
        <p:spPr>
          <a:xfrm>
            <a:off x="2560320" y="2468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Reggio 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Text 7"/>
          <p:cNvSpPr/>
          <p:nvPr/>
        </p:nvSpPr>
        <p:spPr>
          <a:xfrm>
            <a:off x="1188720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Piacenza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1" name="Text 9"/>
          <p:cNvSpPr/>
          <p:nvPr/>
        </p:nvSpPr>
        <p:spPr>
          <a:xfrm>
            <a:off x="3017520" y="1920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Modena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6492240" y="1325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Urgenti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5" name="Text 13"/>
          <p:cNvSpPr/>
          <p:nvPr/>
        </p:nvSpPr>
        <p:spPr>
          <a:xfrm>
            <a:off x="6492240" y="16916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Pianificati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6492240" y="20574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Completati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Copertura: 70+ comuni Emilia-Romagna | 10 tecnici | Localizzazione real-time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 KPI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Prestazioni Settimanali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6" name="Text 4"/>
          <p:cNvSpPr/>
          <p:nvPr/>
        </p:nvSpPr>
        <p:spPr>
          <a:xfrm>
            <a:off x="1005840" y="2514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Lun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Text 6"/>
          <p:cNvSpPr/>
          <p:nvPr/>
        </p:nvSpPr>
        <p:spPr>
          <a:xfrm>
            <a:off x="1828800" y="2514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Mar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2651760" y="2514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Text 10"/>
          <p:cNvSpPr/>
          <p:nvPr/>
        </p:nvSpPr>
        <p:spPr>
          <a:xfrm>
            <a:off x="3474720" y="2514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Gio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4" name="Text 12"/>
          <p:cNvSpPr/>
          <p:nvPr/>
        </p:nvSpPr>
        <p:spPr>
          <a:xfrm>
            <a:off x="4297680" y="2514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Ven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5806440" y="10515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SLA 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06440" y="1325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92%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0" name="Shape 1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1" name="Text 19"/>
          <p:cNvSpPr/>
          <p:nvPr/>
        </p:nvSpPr>
        <p:spPr>
          <a:xfrm>
            <a:off x="5806440" y="1920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Tempo Medio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06440" y="2194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1.2h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4" name="Shape 2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5" name="Text 23"/>
          <p:cNvSpPr/>
          <p:nvPr/>
        </p:nvSpPr>
        <p:spPr>
          <a:xfrm>
            <a:off x="5806440" y="2788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Interventi/Sett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06440" y="3063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156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8" name="Shape 2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9" name="Text 27"/>
          <p:cNvSpPr/>
          <p:nvPr/>
        </p:nvSpPr>
        <p:spPr>
          <a:xfrm>
            <a:off x="5806440" y="3657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Soddisfazione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0644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4.8/5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Sistema Notifiche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Notifications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&amp; app native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Text 7"/>
          <p:cNvSpPr/>
          <p:nvPr/>
        </p:nvSpPr>
        <p:spPr>
          <a:xfrm>
            <a:off x="3520440" y="11430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20440" y="150876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Resend SMTP con template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6400800" y="11430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150876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+ Group bot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Trigger Events: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• Nuova urgenza assegnata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• Escalation SLA (&gt;4h senza start)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• Cambio stato intervento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4251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</a:rPr>
              <a:t>• Ordine ricambi aggiornato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Sicurezza &amp; Compliance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1005840" y="107899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JWT Auth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132588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Token-based authentication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Text 7"/>
          <p:cNvSpPr/>
          <p:nvPr/>
        </p:nvSpPr>
        <p:spPr>
          <a:xfrm>
            <a:off x="5212080" y="107899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Role-Based Access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0" y="132588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Admin, Tecnico, readonly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1005840" y="185623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Audit Trail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10312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Workflow log di tutte azioni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5212080" y="185623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Soft Delete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210312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Dati non mai cancellati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0" name="Shape 1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1" name="Text 19"/>
          <p:cNvSpPr/>
          <p:nvPr/>
        </p:nvSpPr>
        <p:spPr>
          <a:xfrm>
            <a:off x="1005840" y="263347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CORS Policy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2880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Origins whitelisted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4" name="Shape 2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5" name="Text 23"/>
          <p:cNvSpPr/>
          <p:nvPr/>
        </p:nvSpPr>
        <p:spPr>
          <a:xfrm>
            <a:off x="5212080" y="263347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Password Hashing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2880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</a:rPr>
              <a:t>bcrypt salted hashes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8" name="Text 26"/>
          <p:cNvSpPr/>
          <p:nvPr/>
        </p:nvSpPr>
        <p:spPr>
          <a:xfrm>
            <a:off x="3200400" y="41148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GDPR Compliant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Il Team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TEC_691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caposquadra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9" name="Text 7"/>
          <p:cNvSpPr/>
          <p:nvPr/>
        </p:nvSpPr>
        <p:spPr>
          <a:xfrm>
            <a:off x="2240280" y="118872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TEC_ANT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40280" y="15544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senior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3931920" y="118872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TEC_GIO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31920" y="15544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senior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5623560" y="118872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TEC_FAB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23560" y="15544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tecnico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0" name="Shape 1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1" name="Text 19"/>
          <p:cNvSpPr/>
          <p:nvPr/>
        </p:nvSpPr>
        <p:spPr>
          <a:xfrm>
            <a:off x="7315200" y="118872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TEC_MIR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0" y="15544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assente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4" name="Shape 2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5" name="Text 23"/>
          <p:cNvSpPr/>
          <p:nvPr/>
        </p:nvSpPr>
        <p:spPr>
          <a:xfrm>
            <a:off x="548640" y="24688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TEC_FAZ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283464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junior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8" name="Shape 2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9" name="Text 27"/>
          <p:cNvSpPr/>
          <p:nvPr/>
        </p:nvSpPr>
        <p:spPr>
          <a:xfrm>
            <a:off x="2240280" y="24688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TEC_GIU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40280" y="283464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junior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32" name="Shape 3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33" name="Text 31"/>
          <p:cNvSpPr/>
          <p:nvPr/>
        </p:nvSpPr>
        <p:spPr>
          <a:xfrm>
            <a:off x="3931920" y="24688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TEC_GIN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931920" y="283464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junior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36" name="Shape 3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37" name="Text 35"/>
          <p:cNvSpPr/>
          <p:nvPr/>
        </p:nvSpPr>
        <p:spPr>
          <a:xfrm>
            <a:off x="5623560" y="24688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TEC_EMU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23560" y="283464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junior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0" name="Shape 3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1" name="Text 39"/>
          <p:cNvSpPr/>
          <p:nvPr/>
        </p:nvSpPr>
        <p:spPr>
          <a:xfrm>
            <a:off x="7315200" y="246888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USR001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315200" y="283464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0B0"/>
                </a:solidFill>
              </a:rPr>
              <a:t>admin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Q1 2026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Core platform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155 UAT tests PASS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Production ready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Shape 8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1" name="Text 9"/>
          <p:cNvSpPr/>
          <p:nvPr/>
        </p:nvSpPr>
        <p:spPr>
          <a:xfrm>
            <a:off x="32004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Q2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1508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Offline mode (Service Worker)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0" y="2148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KPI dashboard tecnico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0" y="2788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Push notifications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Shape 1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7" name="Text 15"/>
          <p:cNvSpPr/>
          <p:nvPr/>
        </p:nvSpPr>
        <p:spPr>
          <a:xfrm>
            <a:off x="59436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Q3-Q4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1508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Multi-tenant setup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26480" y="2148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i18n (English/Italian)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0" y="2788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Power BI export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Impatto Previsto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4h+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7" name="Text 5"/>
          <p:cNvSpPr/>
          <p:nvPr/>
        </p:nvSpPr>
        <p:spPr>
          <a:xfrm>
            <a:off x="3657600" y="1005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&lt;1h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B0B0"/>
                </a:solidFill>
              </a:rPr>
              <a:t>Tempo Risposta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6766560" y="1005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Manuale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9966960" y="1005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Automatico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66560" y="16916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B0B0"/>
                </a:solidFill>
              </a:rPr>
              <a:t>SLA Tracking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6" name="Text 14"/>
          <p:cNvSpPr/>
          <p:nvPr/>
        </p:nvSpPr>
        <p:spPr>
          <a:xfrm>
            <a:off x="13075920" y="1005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Telefono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8" name="Shape 16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19" name="Text 17"/>
          <p:cNvSpPr/>
          <p:nvPr/>
        </p:nvSpPr>
        <p:spPr>
          <a:xfrm>
            <a:off x="16276320" y="1005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Multi-canale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075920" y="16916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B0B0"/>
                </a:solidFill>
              </a:rPr>
              <a:t>Comunicazione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22" name="Text 20"/>
          <p:cNvSpPr/>
          <p:nvPr/>
        </p:nvSpPr>
        <p:spPr>
          <a:xfrm>
            <a:off x="201168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Riduzione Costi + Efficienza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11680" y="310896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Automazione completa del workflow operativo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2743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✓ 75% riduzione tempo amministrativo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4400" y="3063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✓ 95% SLA compliance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4400" y="3383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✓ 30% riduzione turnaround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1371600" y="1371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71600" y="2606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Production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3246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914400"/>
            <a:ext cx="914400" cy="914400"/>
          </a:xfrm>
          <a:prstGeom prst="[object Object]">
            <a:avLst/>
          </a:prstGeom>
          <a:noFill/>
          <a:ln/>
        </p:spPr>
      </p:sp>
      <p:sp>
        <p:nvSpPr>
          <p:cNvPr id="8" name="Text 6"/>
          <p:cNvSpPr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Web: fieldforcemrser2026.github.io/syntoniqa | API: syntoniqa-mrs-api.fieldforcemrser.workers.dev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2026-03-03T06:39:20Z</dcterms:created>
  <dcterms:modified xsi:type="dcterms:W3CDTF">2026-03-03T06:39:20Z</dcterms:modified>
</cp:coreProperties>
</file>