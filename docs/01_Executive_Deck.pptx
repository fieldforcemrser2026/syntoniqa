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182880"/>
            <a:ext cx="731520" cy="731520"/>
          </a:xfrm>
          <a:prstGeom prst="rect">
            <a:avLst/>
          </a:prstGeom>
          <a:solidFill>
            <a:srgbClr val="C30A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C30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SYNTONIQA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Service Management Platform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 Lely Center Emilia Romagna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0" y="45720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— Marzo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30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Costo dell'Inefficienza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30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 guasti gestiti con telefonate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474720" y="1371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30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4.2h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474720" y="21031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medio di risposta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17920" y="1371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30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217920" y="21031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 ripianificati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analisi processi MRS pre-Syntoniqa, 2025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30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Syntoniqa — Intelligenza Operativa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Syntoniqa è una piattaforma completa di Field Service Management che integra intelligenza artificiale,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tempo reale e automazione workflow. Elimina comunicazioni manuali, ottimizza la schedulazione e fornisce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visibilità 24/7 su tutti gli interventi.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0" y="1280160"/>
            <a:ext cx="365760" cy="365760"/>
          </a:xfrm>
          <a:prstGeom prst="rect">
            <a:avLst/>
          </a:prstGeom>
          <a:solidFill>
            <a:srgbClr val="C30A1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0" y="12801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Dispatching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0" y="1280160"/>
            <a:ext cx="365760" cy="365760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0" y="12801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0" y="2743200"/>
            <a:ext cx="36576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0" y="27432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Telegram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0" y="2743200"/>
            <a:ext cx="36576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0" y="27432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30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Architettura della Soluzione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645920" cy="731520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423160" y="1737360"/>
            <a:ext cx="731520" cy="0"/>
          </a:xfrm>
          <a:prstGeom prst="line">
            <a:avLst/>
          </a:prstGeom>
          <a:noFill/>
          <a:ln w="12700">
            <a:solidFill>
              <a:srgbClr val="B0B0B0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743200" y="1371600"/>
            <a:ext cx="1645920" cy="731520"/>
          </a:xfrm>
          <a:prstGeom prst="rect">
            <a:avLst/>
          </a:prstGeom>
          <a:solidFill>
            <a:srgbClr val="C30A14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1737360"/>
            <a:ext cx="731520" cy="0"/>
          </a:xfrm>
          <a:prstGeom prst="line">
            <a:avLst/>
          </a:prstGeom>
          <a:noFill/>
          <a:ln w="12700">
            <a:solidFill>
              <a:srgbClr val="B0B0B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754880" y="1371600"/>
            <a:ext cx="1645920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66560" y="1371600"/>
            <a:ext cx="1280160" cy="731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137160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06640" y="1188720"/>
            <a:ext cx="0" cy="137160"/>
          </a:xfrm>
          <a:prstGeom prst="line">
            <a:avLst/>
          </a:prstGeom>
          <a:noFill/>
          <a:ln w="12700">
            <a:solidFill>
              <a:srgbClr val="B0B0B0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3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7.086 righe · 129 endpoint · 22 tabelle · 0ms cold start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30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Amministratore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Pannello centralizzato per gestione completa di urgenze, interventi, team e analytics in tempo reale.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754880" y="1188720"/>
            <a:ext cx="1371600" cy="1188720"/>
          </a:xfrm>
          <a:prstGeom prst="rect">
            <a:avLst/>
          </a:prstGeom>
          <a:solidFill>
            <a:srgbClr val="2A2A2A"/>
          </a:solidFill>
          <a:ln w="38100">
            <a:solidFill>
              <a:srgbClr val="C30A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92040" y="1325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Urgenze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92040" y="17373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Assegnazione dinamica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1371600" cy="1188720"/>
          </a:xfrm>
          <a:prstGeom prst="rect">
            <a:avLst/>
          </a:prstGeom>
          <a:solidFill>
            <a:srgbClr val="2A2A2A"/>
          </a:solidFill>
          <a:ln w="38100">
            <a:solidFill>
              <a:srgbClr val="C30A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325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Piano Interventi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080" y="17373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intelligente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80960" y="1188720"/>
            <a:ext cx="1371600" cy="1188720"/>
          </a:xfrm>
          <a:prstGeom prst="rect">
            <a:avLst/>
          </a:prstGeom>
          <a:solidFill>
            <a:srgbClr val="2A2A2A"/>
          </a:solidFill>
          <a:ln w="38100">
            <a:solidFill>
              <a:srgbClr val="C30A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18120" y="1325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Planner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18120" y="17373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Ottimizzazione rotte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560320"/>
            <a:ext cx="1371600" cy="1188720"/>
          </a:xfrm>
          <a:prstGeom prst="rect">
            <a:avLst/>
          </a:prstGeom>
          <a:solidFill>
            <a:srgbClr val="2A2A2A"/>
          </a:solidFill>
          <a:ln w="38100">
            <a:solidFill>
              <a:srgbClr val="C30A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697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Scheduling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31089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Manutenzione predittiva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560320"/>
            <a:ext cx="1371600" cy="1188720"/>
          </a:xfrm>
          <a:prstGeom prst="rect">
            <a:avLst/>
          </a:prstGeom>
          <a:solidFill>
            <a:srgbClr val="2A2A2A"/>
          </a:solidFill>
          <a:ln w="38100">
            <a:solidFill>
              <a:srgbClr val="C30A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2697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Analytics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31089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real-time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80960" y="2560320"/>
            <a:ext cx="1371600" cy="1188720"/>
          </a:xfrm>
          <a:prstGeom prst="rect">
            <a:avLst/>
          </a:prstGeom>
          <a:solidFill>
            <a:srgbClr val="2A2A2A"/>
          </a:solidFill>
          <a:ln w="38100">
            <a:solidFill>
              <a:srgbClr val="C30A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18120" y="2697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Configurazione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818120" y="31089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 sistema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30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PWA Mobile per Tecnici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pagine · Installabile · Offline-ready · Push Notifications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30A14"/>
                </a:solidFill>
              </a:rPr>
              <a:t>▶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Urgenze real-time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0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30A14"/>
                </a:solidFill>
              </a:rPr>
              <a:t>▶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9496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interventi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30A14"/>
                </a:solidFill>
              </a:rPr>
              <a:t>▶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3108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Ordini ricambi da campo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3108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30A14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94960" y="3108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team integrata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30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 Telegram — 18 Comandi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3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Comandi Operativi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/vado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/incorso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/risolto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/ordine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/catalogo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846320" y="1280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3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Comandi Info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164592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/oggi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/settimana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/stato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/report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3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Vision: invia foto → diagnosi automatica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30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Intelligenza Artificiale Integrata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914400" y="1463040"/>
            <a:ext cx="2377440" cy="1645920"/>
          </a:xfrm>
          <a:prstGeom prst="rect">
            <a:avLst/>
          </a:prstGeom>
          <a:solidFill>
            <a:srgbClr val="2A2A2A"/>
          </a:solidFill>
          <a:ln w="38100">
            <a:solidFill>
              <a:srgbClr val="3B7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600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Dispatching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20116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Assegna il tecnico ottimale basato su skills, ubicazione e carico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0" y="1463040"/>
            <a:ext cx="2377440" cy="1645920"/>
          </a:xfrm>
          <a:prstGeom prst="rect">
            <a:avLst/>
          </a:prstGeom>
          <a:solidFill>
            <a:srgbClr val="2A2A2A"/>
          </a:solidFill>
          <a:ln w="38100">
            <a:solidFill>
              <a:srgbClr val="3B7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11880" y="1600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Analysis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11880" y="20116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foto per diagnosi automatica e suggerimenti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463040"/>
            <a:ext cx="2377440" cy="1645920"/>
          </a:xfrm>
          <a:prstGeom prst="rect">
            <a:avLst/>
          </a:prstGeom>
          <a:solidFill>
            <a:srgbClr val="2A2A2A"/>
          </a:solidFill>
          <a:ln w="38100">
            <a:solidFill>
              <a:srgbClr val="3B7E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1600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72200" y="20116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Manutenzione predittiva basata su storico interventi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Privacy-first: anonymization layer su tutte le richieste AI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30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Engine — State Machine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3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Piano Interventi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463040" cy="457200"/>
          </a:xfrm>
          <a:prstGeom prst="rect">
            <a:avLst/>
          </a:prstGeom>
          <a:solidFill>
            <a:srgbClr val="C30A1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pianificato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40280" y="1874520"/>
            <a:ext cx="274320" cy="0"/>
          </a:xfrm>
          <a:prstGeom prst="line">
            <a:avLst/>
          </a:prstGeom>
          <a:noFill/>
          <a:ln w="12700">
            <a:solidFill>
              <a:srgbClr val="C30A1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560320" y="1645920"/>
            <a:ext cx="1463040" cy="457200"/>
          </a:xfrm>
          <a:prstGeom prst="rect">
            <a:avLst/>
          </a:prstGeom>
          <a:solidFill>
            <a:srgbClr val="C30A14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16459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in_corso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069080" y="1874520"/>
            <a:ext cx="274320" cy="0"/>
          </a:xfrm>
          <a:prstGeom prst="line">
            <a:avLst/>
          </a:prstGeom>
          <a:noFill/>
          <a:ln w="12700">
            <a:solidFill>
              <a:srgbClr val="C30A1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89120" y="1645920"/>
            <a:ext cx="1463040" cy="457200"/>
          </a:xfrm>
          <a:prstGeom prst="rect">
            <a:avLst/>
          </a:prstGeom>
          <a:solidFill>
            <a:srgbClr val="C30A14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6459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completato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3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Urgenze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1234440" cy="457200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8346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aperta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737360" y="3063240"/>
            <a:ext cx="228600" cy="0"/>
          </a:xfrm>
          <a:prstGeom prst="line">
            <a:avLst/>
          </a:prstGeom>
          <a:noFill/>
          <a:ln w="12700">
            <a:solidFill>
              <a:srgbClr val="3B7EF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920240" y="2834640"/>
            <a:ext cx="1234440" cy="457200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17" name="Text 15"/>
          <p:cNvSpPr/>
          <p:nvPr/>
        </p:nvSpPr>
        <p:spPr>
          <a:xfrm>
            <a:off x="1920240" y="28346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assegnata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0" y="3063240"/>
            <a:ext cx="228600" cy="0"/>
          </a:xfrm>
          <a:prstGeom prst="line">
            <a:avLst/>
          </a:prstGeom>
          <a:noFill/>
          <a:ln w="12700">
            <a:solidFill>
              <a:srgbClr val="3B7EF7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383280" y="2834640"/>
            <a:ext cx="1234440" cy="457200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0" y="28346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in_corso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63440" y="3063240"/>
            <a:ext cx="228600" cy="0"/>
          </a:xfrm>
          <a:prstGeom prst="line">
            <a:avLst/>
          </a:prstGeom>
          <a:noFill/>
          <a:ln w="12700">
            <a:solidFill>
              <a:srgbClr val="3B7EF7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846320" y="2834640"/>
            <a:ext cx="1234440" cy="457200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8346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risolta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126480" y="3063240"/>
            <a:ext cx="228600" cy="0"/>
          </a:xfrm>
          <a:prstGeom prst="line">
            <a:avLst/>
          </a:prstGeom>
          <a:noFill/>
          <a:ln w="12700">
            <a:solidFill>
              <a:srgbClr val="3B7EF7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309360" y="2834640"/>
            <a:ext cx="1234440" cy="457200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28346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chiusa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30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Notification Hub — 4 Canali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828800" y="1463040"/>
            <a:ext cx="2560320" cy="1097280"/>
          </a:xfrm>
          <a:prstGeom prst="rect">
            <a:avLst/>
          </a:prstGeom>
          <a:solidFill>
            <a:srgbClr val="2A2A2A"/>
          </a:solidFill>
          <a:ln w="38100">
            <a:solidFill>
              <a:srgbClr val="C30A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65960" y="1600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965960" y="2011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API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0" y="1463040"/>
            <a:ext cx="2560320" cy="1097280"/>
          </a:xfrm>
          <a:prstGeom prst="rect">
            <a:avLst/>
          </a:prstGeom>
          <a:solidFill>
            <a:srgbClr val="2A2A2A"/>
          </a:solidFill>
          <a:ln w="38100">
            <a:solidFill>
              <a:srgbClr val="3B7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23560" y="1600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23560" y="2011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gruppo + privato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0" y="2743200"/>
            <a:ext cx="2560320" cy="1097280"/>
          </a:xfrm>
          <a:prstGeom prst="rect">
            <a:avLst/>
          </a:prstGeom>
          <a:solidFill>
            <a:srgbClr val="2A2A2A"/>
          </a:solidFill>
          <a:ln w="381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2880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Push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6596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browser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2743200"/>
            <a:ext cx="2560320" cy="1097280"/>
          </a:xfrm>
          <a:prstGeom prst="rect">
            <a:avLst/>
          </a:prstGeom>
          <a:solidFill>
            <a:srgbClr val="2A2A2A"/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23560" y="2880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2356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notifiche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3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automatica: urgenza non presa dopo 4h → alert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30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 Dashboard in Tempo Reale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377440" cy="1645920"/>
          </a:xfrm>
          <a:prstGeom prst="rect">
            <a:avLst/>
          </a:prstGeom>
          <a:solidFill>
            <a:srgbClr val="2A2A2A"/>
          </a:solidFill>
          <a:ln w="12700">
            <a:solidFill>
              <a:srgbClr val="C30A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54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30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 Completati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+48% YoY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377440" cy="1645920"/>
          </a:xfrm>
          <a:prstGeom prst="rect">
            <a:avLst/>
          </a:prstGeom>
          <a:solidFill>
            <a:srgbClr val="2A2A2A"/>
          </a:solidFill>
          <a:ln w="12700">
            <a:solidFill>
              <a:srgbClr val="C30A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554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30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9184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Urgenze Risolte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2743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+67% YoY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852160" y="1371600"/>
            <a:ext cx="2377440" cy="1645920"/>
          </a:xfrm>
          <a:prstGeom prst="rect">
            <a:avLst/>
          </a:prstGeom>
          <a:solidFill>
            <a:srgbClr val="2A2A2A"/>
          </a:solidFill>
          <a:ln w="12700">
            <a:solidFill>
              <a:srgbClr val="C30A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1554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30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85216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52160" y="2743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 pp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3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tracking · Performance tecnici · Trend analysis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30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Sicurezza &amp; Compliance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8016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4048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HMAC-SHA256, scadenza 8h, role-based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🛡️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2148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0" y="2148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origins whitelist, preflight check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protezione API da abuso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703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completo di ogni azione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30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Team — 10 Professionisti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3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Ruolo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56032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3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38912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3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21792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3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Specialità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Caposquadra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60320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0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Piacenza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7920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Coordinamento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Tecnici Senior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6032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8912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Pavullo, Bologna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1792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 complesse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Tecnici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60320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89120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7920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 standard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Tecnici Junior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6032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8912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Affiancamento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792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Apprendimento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3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Regole team: junior sempre affiancati a senior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30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Assurance — 155/155 PASS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2743200" y="1371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30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 Test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86000" y="2560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Suite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40480" y="2560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Fail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94960" y="2560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sec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CRUD · State Machine · AI · Stress · RBAC · Data Integrity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30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Architettura White-Label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config file per personalizzare brand, colori, feature toggles, PWA manifest e molto altro.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645920" y="2103120"/>
            <a:ext cx="2011680" cy="1097280"/>
          </a:xfrm>
          <a:prstGeom prst="rect">
            <a:avLst/>
          </a:prstGeom>
          <a:solidFill>
            <a:srgbClr val="C30A14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0" y="210312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0" y="2103120"/>
            <a:ext cx="201168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0" y="210312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35040" y="2103120"/>
            <a:ext cx="201168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0" y="210312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3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feature toggles · 8 template vincoli · PWA manifest personalizzabile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30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2026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097280" y="1645920"/>
            <a:ext cx="1645920" cy="457200"/>
          </a:xfrm>
          <a:prstGeom prst="rect">
            <a:avLst/>
          </a:prstGeom>
          <a:solidFill>
            <a:srgbClr val="C30A14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645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" y="22860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Go-Live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" y="3108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26080" y="1645920"/>
            <a:ext cx="1645920" cy="457200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0" y="1645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0" y="22860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+ KPI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26080" y="3108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7EF7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1645920"/>
            <a:ext cx="1645920" cy="457200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645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2860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+ Push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3108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7EF7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83680" y="1645920"/>
            <a:ext cx="1645920" cy="457200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645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22860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+ i18n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0" y="3108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7EF7"/>
                </a:solidFill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30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Impact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30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-60%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risposta urgenze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474720" y="1463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30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474720" y="2194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efficienza pianificazione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35040" y="1463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30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-80%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035040" y="2194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comunicazioni manuali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3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stimato: 6-8 mesi · TCO: infrastruttura serverless a costo zero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731520" cy="731520"/>
          </a:xfrm>
          <a:prstGeom prst="rect">
            <a:avLst/>
          </a:prstGeom>
          <a:solidFill>
            <a:srgbClr val="C30A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30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Contatti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MRS Lely Center Emilia Romagna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Syntoniqa v1.0 — Field Service Management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https://fieldforcemrser2026.github.io/syntoniqa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Syntoniqa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2026-03-03T00:17:15Z</dcterms:created>
  <dcterms:modified xsi:type="dcterms:W3CDTF">2026-03-03T00:17:15Z</dcterms:modified>
</cp:coreProperties>
</file>