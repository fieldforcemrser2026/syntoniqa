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FORMAZIONE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 v1.0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Sessione pratica per Admin e Tecnici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3657600" cy="13716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3200400"/>
            <a:ext cx="54864" cy="1371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3383280"/>
            <a:ext cx="457200" cy="4572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33375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gestione urgenze,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interventi, KPI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4592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3-10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46320" y="3200400"/>
            <a:ext cx="3657600" cy="13716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3200400"/>
            <a:ext cx="54864" cy="1371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3383280"/>
            <a:ext cx="457200" cy="45720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760720" y="33375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6072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mobile, Telegram Bot,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sul campo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76072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11-18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754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 — Marzo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51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051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&amp; Primo Accesso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0" y="1051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4173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— Dashboard &amp; Navigazione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0" y="1417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83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1783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— Gestione Urgenze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1783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3200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148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2148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— Piano Interventi &amp; AI Planner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514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2514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— KPI &amp; Analytics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514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8803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 — App Mobile PWA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0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2461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88720" y="3246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 — Workflow Urgenze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3246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36118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88720" y="36118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 — Telegram Bot &amp; AI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3611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39776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188720" y="3977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 Pratici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58000" y="3977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43434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5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88720" y="4343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858000" y="4343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4754880"/>
            <a:ext cx="8229600" cy="27432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846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Durata totale: ~2 ore   |   Ogni sezione include esercizio pratico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Login &amp; Primo Accesso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5029200" cy="32004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5029200" cy="2743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005840"/>
            <a:ext cx="91440" cy="914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005840"/>
            <a:ext cx="91440" cy="91440"/>
          </a:xfrm>
          <a:prstGeom prst="ellipse">
            <a:avLst/>
          </a:prstGeom>
          <a:solidFill>
            <a:srgbClr val="F7B731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1005840"/>
            <a:ext cx="91440" cy="9144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10" name="Shape 8"/>
          <p:cNvSpPr/>
          <p:nvPr/>
        </p:nvSpPr>
        <p:spPr>
          <a:xfrm>
            <a:off x="1188720" y="969264"/>
            <a:ext cx="3931920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969264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admin_v1.html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1828800" y="1463040"/>
            <a:ext cx="2286000" cy="22860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Shape 11"/>
          <p:cNvSpPr/>
          <p:nvPr/>
        </p:nvSpPr>
        <p:spPr>
          <a:xfrm>
            <a:off x="1828800" y="1463040"/>
            <a:ext cx="2286000" cy="3657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0" y="1645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19659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57400" y="2331720"/>
            <a:ext cx="1828800" cy="22860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/>
        </p:spPr>
      </p:sp>
      <p:sp>
        <p:nvSpPr>
          <p:cNvPr id="17" name="Text 15"/>
          <p:cNvSpPr/>
          <p:nvPr/>
        </p:nvSpPr>
        <p:spPr>
          <a:xfrm>
            <a:off x="2148840" y="23317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m.bozzarelli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057400" y="2651760"/>
            <a:ext cx="1828800" cy="22860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2148840" y="26517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••••••••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2057400" y="3063240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C30A14"/>
          </a:solidFill>
          <a:ln/>
        </p:spPr>
      </p:sp>
      <p:sp>
        <p:nvSpPr>
          <p:cNvPr id="21" name="Text 19"/>
          <p:cNvSpPr/>
          <p:nvPr/>
        </p:nvSpPr>
        <p:spPr>
          <a:xfrm>
            <a:off x="2057400" y="3063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Accedi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0" y="105156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0" y="1051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1005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browser e vai all'URL: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admin_v1.html (Admin)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index_v2.html (Tecnico)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43600" y="182880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0" y="1828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0" y="1783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Inserisci username e password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forniti dall'amministratore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0" y="260604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0" y="25603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primo login cambierai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password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43600" y="338328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33832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0" y="3337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sistema ricorda la sessione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24 ore (JWT token)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4297680"/>
            <a:ext cx="54864" cy="54864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43159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0080" y="4526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partecipante effettua il login con le proprie credenziali. Verificare che la dashboard si carichi correttamente.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 Admin</a:t>
            </a:r>
            <a:endParaRPr lang="en-US" sz="2800" dirty="0"/>
          </a:p>
        </p:txBody>
      </p:sp>
      <p:pic>
        <p:nvPicPr>
          <p:cNvPr id="5" name="Image 0" descr="/sessions/brave-peaceful-lovelace/mockups/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8595360" cy="5733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4389120"/>
            <a:ext cx="228600" cy="2286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4389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9436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Sidebar: 33 sezioni, click per navigare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926080" y="4389120"/>
            <a:ext cx="228600" cy="22860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0" name="Text 7"/>
          <p:cNvSpPr/>
          <p:nvPr/>
        </p:nvSpPr>
        <p:spPr>
          <a:xfrm>
            <a:off x="2926080" y="4389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24612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 cards: numeri real-time, aggiornati automaticamente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943600" y="4389120"/>
            <a:ext cx="228600" cy="22860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0" y="43891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Tabella: click su riga per aprire dettaglio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Gestione Urgenze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68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Aperta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0" y="868680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F7B731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868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Assegnata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F7B731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868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Schedulata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0" y="868680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17C0E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868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0" y="868680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34D058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0" y="868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Risolta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315200" y="868680"/>
            <a:ext cx="1188720" cy="320040"/>
          </a:xfrm>
          <a:prstGeom prst="roundRect">
            <a:avLst>
              <a:gd name="adj" fmla="val 17143"/>
            </a:avLst>
          </a:prstGeom>
          <a:solidFill>
            <a:srgbClr val="66666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0" y="868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Chiusa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645920" y="996696"/>
            <a:ext cx="182880" cy="27432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18" name="Shape 16"/>
          <p:cNvSpPr/>
          <p:nvPr/>
        </p:nvSpPr>
        <p:spPr>
          <a:xfrm>
            <a:off x="3017520" y="996696"/>
            <a:ext cx="182880" cy="27432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19" name="Shape 17"/>
          <p:cNvSpPr/>
          <p:nvPr/>
        </p:nvSpPr>
        <p:spPr>
          <a:xfrm>
            <a:off x="4389120" y="996696"/>
            <a:ext cx="182880" cy="27432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20" name="Shape 18"/>
          <p:cNvSpPr/>
          <p:nvPr/>
        </p:nvSpPr>
        <p:spPr>
          <a:xfrm>
            <a:off x="5760720" y="996696"/>
            <a:ext cx="182880" cy="27432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0" y="996696"/>
            <a:ext cx="182880" cy="27432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1371600"/>
            <a:ext cx="502920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1371600"/>
            <a:ext cx="5029200" cy="2743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4" name="Shape 22"/>
          <p:cNvSpPr/>
          <p:nvPr/>
        </p:nvSpPr>
        <p:spPr>
          <a:xfrm>
            <a:off x="411480" y="1463040"/>
            <a:ext cx="91440" cy="914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5" name="Shape 23"/>
          <p:cNvSpPr/>
          <p:nvPr/>
        </p:nvSpPr>
        <p:spPr>
          <a:xfrm>
            <a:off x="594360" y="1463040"/>
            <a:ext cx="91440" cy="91440"/>
          </a:xfrm>
          <a:prstGeom prst="ellipse">
            <a:avLst/>
          </a:prstGeom>
          <a:solidFill>
            <a:srgbClr val="F7B731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1463040"/>
            <a:ext cx="91440" cy="9144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27" name="Shape 25"/>
          <p:cNvSpPr/>
          <p:nvPr/>
        </p:nvSpPr>
        <p:spPr>
          <a:xfrm>
            <a:off x="1005840" y="1426464"/>
            <a:ext cx="3931920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" y="1426464"/>
            <a:ext cx="3749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admin_v1.html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365760" y="17373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Dettaglio Urgenza URG_042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11480" y="20574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Cliente: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1554480" y="20574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Az. Rossi — Parma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11480" y="2331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Macchina: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1554480" y="23317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A5 Astronaut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11480" y="26060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Priorità: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554480" y="2606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11480" y="28803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Tecnico: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1554480" y="28803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Jacopo Bonadé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11480" y="31546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Stato: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554480" y="3154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C0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IN_CORSO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11480" y="34290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SLA: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1554480" y="34290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— 2h 15min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411480" y="374904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B7EF7"/>
          </a:solidFill>
          <a:ln/>
        </p:spPr>
      </p:sp>
      <p:sp>
        <p:nvSpPr>
          <p:cNvPr id="43" name="Text 41"/>
          <p:cNvSpPr/>
          <p:nvPr/>
        </p:nvSpPr>
        <p:spPr>
          <a:xfrm>
            <a:off x="411480" y="37490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645920" y="374904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4D058"/>
          </a:solidFill>
          <a:ln/>
        </p:spPr>
      </p:sp>
      <p:sp>
        <p:nvSpPr>
          <p:cNvPr id="45" name="Text 43"/>
          <p:cNvSpPr/>
          <p:nvPr/>
        </p:nvSpPr>
        <p:spPr>
          <a:xfrm>
            <a:off x="1645920" y="37490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66928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Azioni Admin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669280" y="187452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48" name="Text 46"/>
          <p:cNvSpPr/>
          <p:nvPr/>
        </p:nvSpPr>
        <p:spPr>
          <a:xfrm>
            <a:off x="5669280" y="18745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12648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Urgenza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126480" y="20299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Nuova Urgenza dal pulsante in alto.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 cliente, macchina, descrizione.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669280" y="246888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52" name="Text 50"/>
          <p:cNvSpPr/>
          <p:nvPr/>
        </p:nvSpPr>
        <p:spPr>
          <a:xfrm>
            <a:off x="5669280" y="2468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126480" y="2423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Assegna Tecnico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26480" y="2624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Seleziona il tecnico dal dropdown.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sistema invia notifica Telegram.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669280" y="3063240"/>
            <a:ext cx="320040" cy="320040"/>
          </a:xfrm>
          <a:prstGeom prst="ellipse">
            <a:avLst/>
          </a:prstGeom>
          <a:solidFill>
            <a:srgbClr val="F7B731"/>
          </a:solidFill>
          <a:ln/>
        </p:spPr>
      </p:sp>
      <p:sp>
        <p:nvSpPr>
          <p:cNvPr id="56" name="Text 54"/>
          <p:cNvSpPr/>
          <p:nvPr/>
        </p:nvSpPr>
        <p:spPr>
          <a:xfrm>
            <a:off x="566928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126480" y="3017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 SLA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126480" y="32186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badge colore cambiano: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→ Warning → Critical → Breach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669280" y="3657600"/>
            <a:ext cx="320040" cy="32004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60" name="Text 58"/>
          <p:cNvSpPr/>
          <p:nvPr/>
        </p:nvSpPr>
        <p:spPr>
          <a:xfrm>
            <a:off x="5669280" y="3657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6126480" y="3611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Chiudi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2648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'Risolta' dal tecnico,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l'admin convalida e chiude.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274320" y="4160520"/>
            <a:ext cx="8595360" cy="54864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274320" y="4160520"/>
            <a:ext cx="54864" cy="54864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417880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Creare una nuova urgenza per 'Azienda Demo', assegnarla a Jacopo, verificare che riceva la notifica Telegram.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Piano Interventi &amp; AI</a:t>
            </a:r>
            <a:endParaRPr lang="en-US" sz="2800" dirty="0"/>
          </a:p>
        </p:txBody>
      </p:sp>
      <p:pic>
        <p:nvPicPr>
          <p:cNvPr id="5" name="Image 0" descr="/sessions/brave-peaceful-lovelace/mockups/piano_intervent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5029200" cy="3355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0" y="822960"/>
            <a:ext cx="3200400" cy="22860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669280" y="822960"/>
            <a:ext cx="3200400" cy="36576"/>
          </a:xfrm>
          <a:prstGeom prst="rect">
            <a:avLst/>
          </a:prstGeom>
          <a:solidFill>
            <a:srgbClr val="8854D0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Planner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85216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 suggerisce la pianificazione ottimale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considerando: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852160" y="1828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 Posizione tecnici e clienti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2160" y="20848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Competenze specifiche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852160" y="23408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 Carichi di lavoro bilanciati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852160" y="259689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🚗  Distanze e tempi percorrenza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852160" y="28529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 Regole affiancamento junior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74320" y="3383280"/>
            <a:ext cx="8595360" cy="54864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4320" y="3383280"/>
            <a:ext cx="54864" cy="54864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" y="34015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Creare 3 interventi per la settimana prossima. Usare l'AI Planner per ottimizzare l'assegnazione. Confrontare il suggerimento AI con l'assegnazione manuale.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27432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 Piano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434840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3B7EF7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4434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Pianificato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377440" y="4434840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17C0EB"/>
          </a:solidFill>
          <a:ln/>
        </p:spPr>
      </p:sp>
      <p:sp>
        <p:nvSpPr>
          <p:cNvPr id="23" name="Text 20"/>
          <p:cNvSpPr/>
          <p:nvPr/>
        </p:nvSpPr>
        <p:spPr>
          <a:xfrm>
            <a:off x="2377440" y="4434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480560" y="4434840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34D058"/>
          </a:solidFill>
          <a:ln/>
        </p:spPr>
      </p:sp>
      <p:sp>
        <p:nvSpPr>
          <p:cNvPr id="25" name="Text 22"/>
          <p:cNvSpPr/>
          <p:nvPr/>
        </p:nvSpPr>
        <p:spPr>
          <a:xfrm>
            <a:off x="4480560" y="4434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Completato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583680" y="4434840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888888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4434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Annullato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1783080" y="4544568"/>
            <a:ext cx="274320" cy="27432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29" name="Shape 26"/>
          <p:cNvSpPr/>
          <p:nvPr/>
        </p:nvSpPr>
        <p:spPr>
          <a:xfrm>
            <a:off x="3886200" y="4544568"/>
            <a:ext cx="274320" cy="27432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30" name="Shape 27"/>
          <p:cNvSpPr/>
          <p:nvPr/>
        </p:nvSpPr>
        <p:spPr>
          <a:xfrm>
            <a:off x="5989320" y="4544568"/>
            <a:ext cx="274320" cy="27432"/>
          </a:xfrm>
          <a:prstGeom prst="rect">
            <a:avLst/>
          </a:prstGeom>
          <a:solidFill>
            <a:srgbClr val="888888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Anagrafiche &amp; Ordini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697480" cy="32004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2697480" cy="3657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60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137160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3716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Ragione Sociale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4592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Indirizzo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192024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9202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11480" y="219456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945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Lat/Lng (Mappa)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246888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46888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Referente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11480" y="274320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7432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1148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Importazione Excel disponibile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caricamento massivo.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154680" y="822960"/>
            <a:ext cx="2697480" cy="32004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822960"/>
            <a:ext cx="2697480" cy="3657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3" name="Text 21"/>
          <p:cNvSpPr/>
          <p:nvPr/>
        </p:nvSpPr>
        <p:spPr>
          <a:xfrm>
            <a:off x="3291840" y="960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Macchine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91840" y="137160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13716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Modello Lely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291840" y="164592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164592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Serie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291840" y="192024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9" name="Text 27"/>
          <p:cNvSpPr/>
          <p:nvPr/>
        </p:nvSpPr>
        <p:spPr>
          <a:xfrm>
            <a:off x="3383280" y="19202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associato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291840" y="219456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1" name="Text 29"/>
          <p:cNvSpPr/>
          <p:nvPr/>
        </p:nvSpPr>
        <p:spPr>
          <a:xfrm>
            <a:off x="3383280" y="21945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Installazione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91840" y="246888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3" name="Text 31"/>
          <p:cNvSpPr/>
          <p:nvPr/>
        </p:nvSpPr>
        <p:spPr>
          <a:xfrm>
            <a:off x="3383280" y="246888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Ultimo PM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91840" y="274320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5" name="Text 33"/>
          <p:cNvSpPr/>
          <p:nvPr/>
        </p:nvSpPr>
        <p:spPr>
          <a:xfrm>
            <a:off x="3383280" y="27432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tecniche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29184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Associazione 1:N con cliente.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Storico manutenzioni collegato.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035040" y="822960"/>
            <a:ext cx="2697480" cy="32004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35040" y="822960"/>
            <a:ext cx="2697480" cy="36576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960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Ricambi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72200" y="137160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1" name="Text 39"/>
          <p:cNvSpPr/>
          <p:nvPr/>
        </p:nvSpPr>
        <p:spPr>
          <a:xfrm>
            <a:off x="6263640" y="13716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Codice ricambio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172200" y="164592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3" name="Text 41"/>
          <p:cNvSpPr/>
          <p:nvPr/>
        </p:nvSpPr>
        <p:spPr>
          <a:xfrm>
            <a:off x="6263640" y="164592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Quantità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172200" y="192024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5" name="Text 43"/>
          <p:cNvSpPr/>
          <p:nvPr/>
        </p:nvSpPr>
        <p:spPr>
          <a:xfrm>
            <a:off x="6263640" y="192024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 richiedente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172200" y="219456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7" name="Text 45"/>
          <p:cNvSpPr/>
          <p:nvPr/>
        </p:nvSpPr>
        <p:spPr>
          <a:xfrm>
            <a:off x="6263640" y="21945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destinazione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172200" y="2468880"/>
            <a:ext cx="2423160" cy="2286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9" name="Text 47"/>
          <p:cNvSpPr/>
          <p:nvPr/>
        </p:nvSpPr>
        <p:spPr>
          <a:xfrm>
            <a:off x="6263640" y="246888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ordine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172200" y="2743200"/>
            <a:ext cx="2423160" cy="2286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51" name="Text 49"/>
          <p:cNvSpPr/>
          <p:nvPr/>
        </p:nvSpPr>
        <p:spPr>
          <a:xfrm>
            <a:off x="6263640" y="274320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richiesta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17220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Creabile anche via Telegram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/ordine codice qt cliente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74320" y="4206240"/>
            <a:ext cx="8595360" cy="54864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274320" y="4206240"/>
            <a:ext cx="54864" cy="54864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4224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Aggiungere un nuovo cliente 'Azienda Demo', associargli una macchina Lely A5, creare un ordine ricambi per sensore temperatura.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KPI &amp; Analytics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</a:t>
            </a:r>
            <a:endParaRPr lang="en-US" sz="900" dirty="0"/>
          </a:p>
        </p:txBody>
      </p:sp>
      <p:pic>
        <p:nvPicPr>
          <p:cNvPr id="6" name="Image 0" descr="/sessions/brave-peaceful-lovelace/mockups/kpi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57332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4320" y="4389120"/>
            <a:ext cx="54864" cy="41148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44074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Navigare nella sezione KPI, identificare il tecnico con SLA compliance più basso, analizzare le cause.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Mappa, Config &amp; Notifiche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697480" cy="25603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2697480" cy="36576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60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Mappa Interattiva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Leaflet.js con tutti i clienti geolocalizzati.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colorati per stato urgenze.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su pin → dettaglio cliente.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2743200"/>
            <a:ext cx="2423160" cy="2743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834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 città Emilia Romagna pre-geocodificate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154680" y="822960"/>
            <a:ext cx="2697480" cy="25603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822960"/>
            <a:ext cx="2697480" cy="3657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960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Configurazione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13258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config: tempi target per priorità.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Notifiche: canali attivi per evento.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White-label: colori, logo, brand name.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Utenti: crea/modifica/disabilita.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2743200"/>
            <a:ext cx="2423160" cy="2743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6" name="Text 14"/>
          <p:cNvSpPr/>
          <p:nvPr/>
        </p:nvSpPr>
        <p:spPr>
          <a:xfrm>
            <a:off x="3291840" y="2834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config sono per-tenant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35040" y="822960"/>
            <a:ext cx="2697480" cy="25603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822960"/>
            <a:ext cx="2697480" cy="36576"/>
          </a:xfrm>
          <a:prstGeom prst="rect">
            <a:avLst/>
          </a:prstGeom>
          <a:solidFill>
            <a:srgbClr val="8854D0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960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Notifiche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00" y="13258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canali: Push, Email, Telegram.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evento ha la sua regola.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Anti-duplicato per notification ID.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engine ogni 15 minuti.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172200" y="2743200"/>
            <a:ext cx="2423160" cy="2743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20"/>
          <p:cNvSpPr/>
          <p:nvPr/>
        </p:nvSpPr>
        <p:spPr>
          <a:xfrm>
            <a:off x="6172200" y="2834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854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automatica dopo 4h inattività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74320" y="365760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SESSIONE TECNICO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3977640"/>
            <a:ext cx="8595360" cy="27432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5" name="Text 23"/>
          <p:cNvSpPr/>
          <p:nvPr/>
        </p:nvSpPr>
        <p:spPr>
          <a:xfrm>
            <a:off x="274320" y="41148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prossime slide sono dedicate ai tecnici sul campo — App Mobile PWA e Telegram 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 Mobile — Installazione PWA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011680" cy="3200400"/>
          </a:xfrm>
          <a:prstGeom prst="roundRect">
            <a:avLst>
              <a:gd name="adj" fmla="val 6818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60120"/>
            <a:ext cx="192024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1920240" cy="2697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39319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143000"/>
            <a:ext cx="1920240" cy="182880"/>
          </a:xfrm>
          <a:prstGeom prst="rect">
            <a:avLst/>
          </a:prstGeom>
          <a:solidFill>
            <a:srgbClr val="252525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1430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/ Safari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94360" y="14173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index_v2.html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148840" y="141732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⋮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187452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nel browser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l'URL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dell'app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234440" y="420624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6" name="Text 14"/>
          <p:cNvSpPr/>
          <p:nvPr/>
        </p:nvSpPr>
        <p:spPr>
          <a:xfrm>
            <a:off x="1234440" y="4206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9164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URL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83280" y="914400"/>
            <a:ext cx="2011680" cy="3200400"/>
          </a:xfrm>
          <a:prstGeom prst="roundRect">
            <a:avLst>
              <a:gd name="adj" fmla="val 6818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29000" y="960120"/>
            <a:ext cx="192024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0" y="960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429000" y="1143000"/>
            <a:ext cx="1920240" cy="2697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069080" y="39319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23" name="Shape 21"/>
          <p:cNvSpPr/>
          <p:nvPr/>
        </p:nvSpPr>
        <p:spPr>
          <a:xfrm>
            <a:off x="3611880" y="1600200"/>
            <a:ext cx="1554480" cy="13716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4" name="Text 22"/>
          <p:cNvSpPr/>
          <p:nvPr/>
        </p:nvSpPr>
        <p:spPr>
          <a:xfrm>
            <a:off x="3703320" y="1691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Aggiungi a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Schermata Home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94760" y="224028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3B7EF7"/>
          </a:solidFill>
          <a:ln/>
        </p:spPr>
      </p:sp>
      <p:sp>
        <p:nvSpPr>
          <p:cNvPr id="26" name="Text 24"/>
          <p:cNvSpPr/>
          <p:nvPr/>
        </p:nvSpPr>
        <p:spPr>
          <a:xfrm>
            <a:off x="3794760" y="22402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Aggiungi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160520" y="420624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8" name="Text 26"/>
          <p:cNvSpPr/>
          <p:nvPr/>
        </p:nvSpPr>
        <p:spPr>
          <a:xfrm>
            <a:off x="4160520" y="4206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61772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 PWA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09360" y="914400"/>
            <a:ext cx="2011680" cy="3200400"/>
          </a:xfrm>
          <a:prstGeom prst="roundRect">
            <a:avLst>
              <a:gd name="adj" fmla="val 6818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55080" y="960120"/>
            <a:ext cx="192024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960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355080" y="1143000"/>
            <a:ext cx="1920240" cy="2697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Shape 32"/>
          <p:cNvSpPr/>
          <p:nvPr/>
        </p:nvSpPr>
        <p:spPr>
          <a:xfrm>
            <a:off x="6995160" y="39319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35" name="Shape 33"/>
          <p:cNvSpPr/>
          <p:nvPr/>
        </p:nvSpPr>
        <p:spPr>
          <a:xfrm>
            <a:off x="6355080" y="1143000"/>
            <a:ext cx="192024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1143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355080" y="3566160"/>
            <a:ext cx="1920240" cy="27432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8" name="Text 36"/>
          <p:cNvSpPr/>
          <p:nvPr/>
        </p:nvSpPr>
        <p:spPr>
          <a:xfrm>
            <a:off x="6355080" y="3566160"/>
            <a:ext cx="4800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550" dirty="0"/>
          </a:p>
        </p:txBody>
      </p:sp>
      <p:sp>
        <p:nvSpPr>
          <p:cNvPr id="39" name="Text 37"/>
          <p:cNvSpPr/>
          <p:nvPr/>
        </p:nvSpPr>
        <p:spPr>
          <a:xfrm>
            <a:off x="6835140" y="3566160"/>
            <a:ext cx="4800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</a:t>
            </a:r>
            <a:endParaRPr lang="en-US" sz="550" dirty="0"/>
          </a:p>
        </p:txBody>
      </p:sp>
      <p:sp>
        <p:nvSpPr>
          <p:cNvPr id="40" name="Text 38"/>
          <p:cNvSpPr/>
          <p:nvPr/>
        </p:nvSpPr>
        <p:spPr>
          <a:xfrm>
            <a:off x="7315200" y="3566160"/>
            <a:ext cx="4800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</a:t>
            </a:r>
            <a:endParaRPr lang="en-US" sz="550" dirty="0"/>
          </a:p>
        </p:txBody>
      </p:sp>
      <p:sp>
        <p:nvSpPr>
          <p:cNvPr id="41" name="Text 39"/>
          <p:cNvSpPr/>
          <p:nvPr/>
        </p:nvSpPr>
        <p:spPr>
          <a:xfrm>
            <a:off x="7795260" y="3566160"/>
            <a:ext cx="4800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550" dirty="0"/>
          </a:p>
        </p:txBody>
      </p:sp>
      <p:sp>
        <p:nvSpPr>
          <p:cNvPr id="42" name="Text 40"/>
          <p:cNvSpPr/>
          <p:nvPr/>
        </p:nvSpPr>
        <p:spPr>
          <a:xfrm>
            <a:off x="6446520" y="15087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Benvenuto, Jacopo!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446520" y="17830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urgenze aperte</a:t>
            </a:r>
            <a:endParaRPr lang="en-US" sz="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interventi oggi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086600" y="4206240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45" name="Text 43"/>
          <p:cNvSpPr/>
          <p:nvPr/>
        </p:nvSpPr>
        <p:spPr>
          <a:xfrm>
            <a:off x="7086600" y="4206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543800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Pronta!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4572000"/>
            <a:ext cx="859536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8" name="Shape 46"/>
          <p:cNvSpPr/>
          <p:nvPr/>
        </p:nvSpPr>
        <p:spPr>
          <a:xfrm>
            <a:off x="274320" y="4572000"/>
            <a:ext cx="54864" cy="27432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ESERCIZIO: Installare la PWA sul proprio smartphone. Effettuare il login e verificare la home.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 Mobile — Navigazione</a:t>
            </a:r>
            <a:endParaRPr lang="en-US" sz="2800" dirty="0"/>
          </a:p>
        </p:txBody>
      </p:sp>
      <p:pic>
        <p:nvPicPr>
          <p:cNvPr id="5" name="Image 0" descr="/sessions/brave-peaceful-lovelace/mockups/mobile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1645920" cy="35570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0" y="822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Pagine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57600" y="1280160"/>
            <a:ext cx="5212080" cy="338328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8" name="Text 5"/>
          <p:cNvSpPr/>
          <p:nvPr/>
        </p:nvSpPr>
        <p:spPr>
          <a:xfrm>
            <a:off x="3749040" y="1280160"/>
            <a:ext cx="3657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🏠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114800" y="128016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1280160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Riepilogo urgenze, interventi, ordini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657600" y="1664208"/>
            <a:ext cx="5212080" cy="33832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9"/>
          <p:cNvSpPr/>
          <p:nvPr/>
        </p:nvSpPr>
        <p:spPr>
          <a:xfrm>
            <a:off x="3749040" y="1664208"/>
            <a:ext cx="3657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114800" y="1664208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303520" y="1664208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urgenze assegnate, prendere/iniziare/risolvere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0" y="2048256"/>
            <a:ext cx="5212080" cy="338328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6" name="Text 13"/>
          <p:cNvSpPr/>
          <p:nvPr/>
        </p:nvSpPr>
        <p:spPr>
          <a:xfrm>
            <a:off x="3749040" y="2048256"/>
            <a:ext cx="3657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114800" y="2048256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303520" y="2048256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pianificati, calendario, dettaglio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3657600" y="2432304"/>
            <a:ext cx="5212080" cy="33832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7"/>
          <p:cNvSpPr/>
          <p:nvPr/>
        </p:nvSpPr>
        <p:spPr>
          <a:xfrm>
            <a:off x="3749040" y="2432304"/>
            <a:ext cx="3657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114800" y="2432304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303520" y="2432304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ordini, stato, nuovo ordine rapido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3657600" y="2816352"/>
            <a:ext cx="5212080" cy="338328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4" name="Text 21"/>
          <p:cNvSpPr/>
          <p:nvPr/>
        </p:nvSpPr>
        <p:spPr>
          <a:xfrm>
            <a:off x="3749040" y="2816352"/>
            <a:ext cx="3657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114800" y="2816352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303520" y="2816352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Messaggistica team + canali per urgenza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3657600" y="3200400"/>
            <a:ext cx="5212080" cy="33832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8" name="Text 25"/>
          <p:cNvSpPr/>
          <p:nvPr/>
        </p:nvSpPr>
        <p:spPr>
          <a:xfrm>
            <a:off x="3749040" y="3200400"/>
            <a:ext cx="3657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114800" y="3200400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Mappa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303520" y="3200400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Clienti geolocalizzati, navigazione GPS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657600" y="3584448"/>
            <a:ext cx="5212080" cy="338328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2" name="Text 29"/>
          <p:cNvSpPr/>
          <p:nvPr/>
        </p:nvSpPr>
        <p:spPr>
          <a:xfrm>
            <a:off x="3749040" y="3584448"/>
            <a:ext cx="3657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114800" y="3584448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303520" y="3584448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notifiche con badge non-lette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0" y="3968496"/>
            <a:ext cx="5212080" cy="33832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6" name="Text 33"/>
          <p:cNvSpPr/>
          <p:nvPr/>
        </p:nvSpPr>
        <p:spPr>
          <a:xfrm>
            <a:off x="3749040" y="3968496"/>
            <a:ext cx="3657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114800" y="3968496"/>
            <a:ext cx="1097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Profilo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303520" y="3968496"/>
            <a:ext cx="34747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Dati personali, furgone, cambio password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3657600" y="4434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nav sempre visibile — accesso rapido alle 5 sezioni principali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 Urgenze — Mobile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828800" cy="2743200"/>
          </a:xfrm>
          <a:prstGeom prst="roundRect">
            <a:avLst>
              <a:gd name="adj" fmla="val 7500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960120"/>
            <a:ext cx="173736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0040" y="1143000"/>
            <a:ext cx="1737360" cy="2240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34747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173736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65760" y="1463040"/>
            <a:ext cx="164592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490472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URG_042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411480" y="1655064"/>
            <a:ext cx="15544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Az. Rossi · Robot A5 bloccato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411480" y="1892808"/>
            <a:ext cx="1554480" cy="201168"/>
          </a:xfrm>
          <a:prstGeom prst="roundRect">
            <a:avLst>
              <a:gd name="adj" fmla="val 18182"/>
            </a:avLst>
          </a:prstGeom>
          <a:solidFill>
            <a:srgbClr val="C30A14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189280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 IN CARICO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914400" y="3794760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794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25880" y="3794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68880" y="914400"/>
            <a:ext cx="1828800" cy="2743200"/>
          </a:xfrm>
          <a:prstGeom prst="roundRect">
            <a:avLst>
              <a:gd name="adj" fmla="val 7500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14600" y="960120"/>
            <a:ext cx="173736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2560320" y="960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514600" y="1143000"/>
            <a:ext cx="1737360" cy="2240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4" name="Shape 22"/>
          <p:cNvSpPr/>
          <p:nvPr/>
        </p:nvSpPr>
        <p:spPr>
          <a:xfrm>
            <a:off x="3063240" y="34747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2514600" y="1143000"/>
            <a:ext cx="1737360" cy="22860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26" name="Text 24"/>
          <p:cNvSpPr/>
          <p:nvPr/>
        </p:nvSpPr>
        <p:spPr>
          <a:xfrm>
            <a:off x="2560320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URG_042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146304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Az. Rossi — Parma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2606040" y="1737360"/>
            <a:ext cx="1554480" cy="201168"/>
          </a:xfrm>
          <a:prstGeom prst="roundRect">
            <a:avLst>
              <a:gd name="adj" fmla="val 18182"/>
            </a:avLst>
          </a:prstGeom>
          <a:solidFill>
            <a:srgbClr val="34D058"/>
          </a:solidFill>
          <a:ln/>
        </p:spPr>
      </p:sp>
      <p:sp>
        <p:nvSpPr>
          <p:cNvPr id="29" name="Text 27"/>
          <p:cNvSpPr/>
          <p:nvPr/>
        </p:nvSpPr>
        <p:spPr>
          <a:xfrm>
            <a:off x="2606040" y="17373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 →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2606040" y="2011680"/>
            <a:ext cx="1554480" cy="201168"/>
          </a:xfrm>
          <a:prstGeom prst="roundRect">
            <a:avLst>
              <a:gd name="adj" fmla="val 18182"/>
            </a:avLst>
          </a:prstGeom>
          <a:solidFill>
            <a:srgbClr val="17C0EB"/>
          </a:solidFill>
          <a:ln/>
        </p:spPr>
      </p:sp>
      <p:sp>
        <p:nvSpPr>
          <p:cNvPr id="31" name="Text 29"/>
          <p:cNvSpPr/>
          <p:nvPr/>
        </p:nvSpPr>
        <p:spPr>
          <a:xfrm>
            <a:off x="2606040" y="201168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INIZIA LAVORO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3108960" y="3794760"/>
            <a:ext cx="320040" cy="320040"/>
          </a:xfrm>
          <a:prstGeom prst="ellipse">
            <a:avLst/>
          </a:prstGeom>
          <a:solidFill>
            <a:srgbClr val="F7B731"/>
          </a:solidFill>
          <a:ln/>
        </p:spPr>
      </p:sp>
      <p:sp>
        <p:nvSpPr>
          <p:cNvPr id="33" name="Text 31"/>
          <p:cNvSpPr/>
          <p:nvPr/>
        </p:nvSpPr>
        <p:spPr>
          <a:xfrm>
            <a:off x="3108960" y="3794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0440" y="3794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914400"/>
            <a:ext cx="1828800" cy="2743200"/>
          </a:xfrm>
          <a:prstGeom prst="roundRect">
            <a:avLst>
              <a:gd name="adj" fmla="val 7500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09160" y="960120"/>
            <a:ext cx="173736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Text 35"/>
          <p:cNvSpPr/>
          <p:nvPr/>
        </p:nvSpPr>
        <p:spPr>
          <a:xfrm>
            <a:off x="4754880" y="960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709160" y="1143000"/>
            <a:ext cx="1737360" cy="2240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34747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40" name="Shape 38"/>
          <p:cNvSpPr/>
          <p:nvPr/>
        </p:nvSpPr>
        <p:spPr>
          <a:xfrm>
            <a:off x="4709160" y="1143000"/>
            <a:ext cx="1737360" cy="228600"/>
          </a:xfrm>
          <a:prstGeom prst="rect">
            <a:avLst/>
          </a:prstGeom>
          <a:solidFill>
            <a:srgbClr val="17C0EB"/>
          </a:solidFill>
          <a:ln/>
        </p:spPr>
      </p:sp>
      <p:sp>
        <p:nvSpPr>
          <p:cNvPr id="41" name="Text 39"/>
          <p:cNvSpPr/>
          <p:nvPr/>
        </p:nvSpPr>
        <p:spPr>
          <a:xfrm>
            <a:off x="4754880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800600" y="14630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1h 23min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00600" y="1691640"/>
            <a:ext cx="15544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attivo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4800600" y="1965960"/>
            <a:ext cx="1554480" cy="201168"/>
          </a:xfrm>
          <a:prstGeom prst="roundRect">
            <a:avLst>
              <a:gd name="adj" fmla="val 18182"/>
            </a:avLst>
          </a:prstGeom>
          <a:solidFill>
            <a:srgbClr val="34D058"/>
          </a:solidFill>
          <a:ln/>
        </p:spPr>
      </p:sp>
      <p:sp>
        <p:nvSpPr>
          <p:cNvPr id="45" name="Text 43"/>
          <p:cNvSpPr/>
          <p:nvPr/>
        </p:nvSpPr>
        <p:spPr>
          <a:xfrm>
            <a:off x="4800600" y="196596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 RISOLTO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5303520" y="3794760"/>
            <a:ext cx="320040" cy="320040"/>
          </a:xfrm>
          <a:prstGeom prst="ellipse">
            <a:avLst/>
          </a:prstGeom>
          <a:solidFill>
            <a:srgbClr val="17C0EB"/>
          </a:solidFill>
          <a:ln/>
        </p:spPr>
      </p:sp>
      <p:sp>
        <p:nvSpPr>
          <p:cNvPr id="47" name="Text 45"/>
          <p:cNvSpPr/>
          <p:nvPr/>
        </p:nvSpPr>
        <p:spPr>
          <a:xfrm>
            <a:off x="5303520" y="3794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715000" y="3794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Lavora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858000" y="914400"/>
            <a:ext cx="1828800" cy="2743200"/>
          </a:xfrm>
          <a:prstGeom prst="roundRect">
            <a:avLst>
              <a:gd name="adj" fmla="val 7500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903720" y="960120"/>
            <a:ext cx="173736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1" name="Text 49"/>
          <p:cNvSpPr/>
          <p:nvPr/>
        </p:nvSpPr>
        <p:spPr>
          <a:xfrm>
            <a:off x="6949440" y="960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6903720" y="1143000"/>
            <a:ext cx="1737360" cy="2240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7452360" y="34747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54" name="Shape 52"/>
          <p:cNvSpPr/>
          <p:nvPr/>
        </p:nvSpPr>
        <p:spPr>
          <a:xfrm>
            <a:off x="6903720" y="1143000"/>
            <a:ext cx="1737360" cy="2286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5" name="Text 53"/>
          <p:cNvSpPr/>
          <p:nvPr/>
        </p:nvSpPr>
        <p:spPr>
          <a:xfrm>
            <a:off x="6949440" y="1143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RISOLTA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995160" y="1463040"/>
            <a:ext cx="15544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risoluzione: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6995160" y="1645920"/>
            <a:ext cx="1554480" cy="36576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58" name="Text 56"/>
          <p:cNvSpPr/>
          <p:nvPr/>
        </p:nvSpPr>
        <p:spPr>
          <a:xfrm>
            <a:off x="7040880" y="16733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Sostituito sensore</a:t>
            </a:r>
            <a:endParaRPr lang="en-US" sz="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temperatura + calibrazione</a:t>
            </a:r>
            <a:endParaRPr lang="en-US" sz="550" dirty="0"/>
          </a:p>
        </p:txBody>
      </p:sp>
      <p:sp>
        <p:nvSpPr>
          <p:cNvPr id="59" name="Text 57"/>
          <p:cNvSpPr/>
          <p:nvPr/>
        </p:nvSpPr>
        <p:spPr>
          <a:xfrm>
            <a:off x="6995160" y="210312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Urgenza chiusa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498080" y="3794760"/>
            <a:ext cx="320040" cy="320040"/>
          </a:xfrm>
          <a:prstGeom prst="ellipse">
            <a:avLst/>
          </a:prstGeom>
          <a:solidFill>
            <a:srgbClr val="34D058"/>
          </a:solidFill>
          <a:ln/>
        </p:spPr>
      </p:sp>
      <p:sp>
        <p:nvSpPr>
          <p:cNvPr id="61" name="Text 59"/>
          <p:cNvSpPr/>
          <p:nvPr/>
        </p:nvSpPr>
        <p:spPr>
          <a:xfrm>
            <a:off x="7498080" y="3794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7909560" y="3794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Chiudi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74320" y="4297680"/>
            <a:ext cx="8595360" cy="502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274320" y="4297680"/>
            <a:ext cx="54864" cy="50292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4315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Completare il ciclo urgenza completo dall'app: prendere in carico → navigare al cliente → iniziare lavoro → segnare risolto con note.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 Bot — Comandi</a:t>
            </a:r>
            <a:endParaRPr lang="en-US" sz="2800" dirty="0"/>
          </a:p>
        </p:txBody>
      </p:sp>
      <p:pic>
        <p:nvPicPr>
          <p:cNvPr id="5" name="Image 0" descr="/sessions/brave-peaceful-lovelace/mockups/telegram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182880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7744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377440" y="12344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/vado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931920" y="123444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urgenze, prendi con /vado 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2377440" y="150876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7B7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/incorso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0" y="150876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 urgenza in corso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2377440" y="178308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/risolto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931920" y="178308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Chiudi urgenza con note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2377440" y="205740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7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931920" y="205740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urgenze attive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377440" y="233172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C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/oggi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931920" y="233172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interventi di oggi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377440" y="26060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54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/settimana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931920" y="260604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settimanale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377440" y="288036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7B7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/ordine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931920" y="288036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ordine: /ordine cod qt cli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377440" y="315468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Foto/testo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931920" y="3154680"/>
            <a:ext cx="4663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 analizza e crea azione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74320" y="4206240"/>
            <a:ext cx="8595360" cy="5029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74320" y="4206240"/>
            <a:ext cx="8595360" cy="27432"/>
          </a:xfrm>
          <a:prstGeom prst="rect">
            <a:avLst/>
          </a:prstGeom>
          <a:solidFill>
            <a:srgbClr val="8854D0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42702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Engine: invia una foto del guasto → l'AI identifica il problema e suggerisce l'azione da intraprendere.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 In-App &amp; Ordini Rapidi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868680"/>
            <a:ext cx="219456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68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02920" y="1051560"/>
            <a:ext cx="2194560" cy="2788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39319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51560"/>
            <a:ext cx="219456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05156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Team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4360" y="137160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Jacopo</a:t>
            </a:r>
            <a:endParaRPr lang="en-US" sz="500" dirty="0"/>
          </a:p>
        </p:txBody>
      </p:sp>
      <p:sp>
        <p:nvSpPr>
          <p:cNvPr id="13" name="Shape 11"/>
          <p:cNvSpPr/>
          <p:nvPr/>
        </p:nvSpPr>
        <p:spPr>
          <a:xfrm>
            <a:off x="594360" y="1508760"/>
            <a:ext cx="201168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52704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 bisogno del sensore temp per il robot Rossi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594360" y="182880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500" dirty="0"/>
          </a:p>
        </p:txBody>
      </p:sp>
      <p:sp>
        <p:nvSpPr>
          <p:cNvPr id="16" name="Shape 14"/>
          <p:cNvSpPr/>
          <p:nvPr/>
        </p:nvSpPr>
        <p:spPr>
          <a:xfrm>
            <a:off x="594360" y="1965960"/>
            <a:ext cx="201168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98424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Ordine creato ORD_078. Arrivo previsto domani.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594360" y="224028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</a:t>
            </a:r>
            <a:endParaRPr lang="en-US" sz="500" dirty="0"/>
          </a:p>
        </p:txBody>
      </p:sp>
      <p:sp>
        <p:nvSpPr>
          <p:cNvPr id="19" name="Shape 17"/>
          <p:cNvSpPr/>
          <p:nvPr/>
        </p:nvSpPr>
        <p:spPr>
          <a:xfrm>
            <a:off x="594360" y="2377440"/>
            <a:ext cx="201168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395728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 sono a Parma, posso portarglielo stasera</a:t>
            </a:r>
            <a:endParaRPr lang="en-US" sz="550" dirty="0"/>
          </a:p>
        </p:txBody>
      </p:sp>
      <p:sp>
        <p:nvSpPr>
          <p:cNvPr id="21" name="Shape 19"/>
          <p:cNvSpPr/>
          <p:nvPr/>
        </p:nvSpPr>
        <p:spPr>
          <a:xfrm>
            <a:off x="502920" y="3566160"/>
            <a:ext cx="2194560" cy="274320"/>
          </a:xfrm>
          <a:prstGeom prst="rect">
            <a:avLst/>
          </a:prstGeom>
          <a:solidFill>
            <a:srgbClr val="252525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611880"/>
            <a:ext cx="1737360" cy="182880"/>
          </a:xfrm>
          <a:prstGeom prst="roundRect">
            <a:avLst>
              <a:gd name="adj" fmla="val 20000"/>
            </a:avLst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61188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Scrivi...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291840" y="82296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 w="19050">
            <a:solidFill>
              <a:srgbClr val="44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37560" y="868680"/>
            <a:ext cx="2194560" cy="182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Text 24"/>
          <p:cNvSpPr/>
          <p:nvPr/>
        </p:nvSpPr>
        <p:spPr>
          <a:xfrm>
            <a:off x="3383280" y="868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9:41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337560" y="1051560"/>
            <a:ext cx="2194560" cy="2788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8" name="Shape 26"/>
          <p:cNvSpPr/>
          <p:nvPr/>
        </p:nvSpPr>
        <p:spPr>
          <a:xfrm>
            <a:off x="4114800" y="3931920"/>
            <a:ext cx="640080" cy="36576"/>
          </a:xfrm>
          <a:prstGeom prst="roundRect">
            <a:avLst>
              <a:gd name="adj" fmla="val 50000"/>
            </a:avLst>
          </a:prstGeom>
          <a:solidFill>
            <a:srgbClr val="444444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1051560"/>
            <a:ext cx="2194560" cy="22860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105156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Ricambi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3383280" y="1371600"/>
            <a:ext cx="2103120" cy="43891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2" name="Text 30"/>
          <p:cNvSpPr/>
          <p:nvPr/>
        </p:nvSpPr>
        <p:spPr>
          <a:xfrm>
            <a:off x="3429000" y="1399032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ORD_078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429000" y="1536192"/>
            <a:ext cx="1554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Sensore temp.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4663440" y="1536192"/>
            <a:ext cx="731520" cy="155448"/>
          </a:xfrm>
          <a:prstGeom prst="roundRect">
            <a:avLst>
              <a:gd name="adj" fmla="val 17647"/>
            </a:avLst>
          </a:prstGeom>
          <a:solidFill>
            <a:srgbClr val="F7B731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1536192"/>
            <a:ext cx="7315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arrivo</a:t>
            </a:r>
            <a:endParaRPr lang="en-US" sz="450" dirty="0"/>
          </a:p>
        </p:txBody>
      </p:sp>
      <p:sp>
        <p:nvSpPr>
          <p:cNvPr id="36" name="Shape 34"/>
          <p:cNvSpPr/>
          <p:nvPr/>
        </p:nvSpPr>
        <p:spPr>
          <a:xfrm>
            <a:off x="3383280" y="1874520"/>
            <a:ext cx="2103120" cy="43891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7" name="Text 35"/>
          <p:cNvSpPr/>
          <p:nvPr/>
        </p:nvSpPr>
        <p:spPr>
          <a:xfrm>
            <a:off x="3429000" y="1901952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ORD_077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3429000" y="2039112"/>
            <a:ext cx="1554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latte</a:t>
            </a:r>
            <a:endParaRPr lang="en-US" sz="550" dirty="0"/>
          </a:p>
        </p:txBody>
      </p:sp>
      <p:sp>
        <p:nvSpPr>
          <p:cNvPr id="39" name="Shape 37"/>
          <p:cNvSpPr/>
          <p:nvPr/>
        </p:nvSpPr>
        <p:spPr>
          <a:xfrm>
            <a:off x="4663440" y="2039112"/>
            <a:ext cx="731520" cy="155448"/>
          </a:xfrm>
          <a:prstGeom prst="roundRect">
            <a:avLst>
              <a:gd name="adj" fmla="val 17647"/>
            </a:avLst>
          </a:prstGeom>
          <a:solidFill>
            <a:srgbClr val="34D058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2039112"/>
            <a:ext cx="7315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Consegnato</a:t>
            </a:r>
            <a:endParaRPr lang="en-US" sz="450" dirty="0"/>
          </a:p>
        </p:txBody>
      </p:sp>
      <p:sp>
        <p:nvSpPr>
          <p:cNvPr id="41" name="Shape 39"/>
          <p:cNvSpPr/>
          <p:nvPr/>
        </p:nvSpPr>
        <p:spPr>
          <a:xfrm>
            <a:off x="3383280" y="2377440"/>
            <a:ext cx="2103120" cy="438912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2404872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ORD_076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3429000" y="2542032"/>
            <a:ext cx="1554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Guarnizione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4663440" y="2542032"/>
            <a:ext cx="731520" cy="155448"/>
          </a:xfrm>
          <a:prstGeom prst="roundRect">
            <a:avLst>
              <a:gd name="adj" fmla="val 17647"/>
            </a:avLst>
          </a:prstGeom>
          <a:solidFill>
            <a:srgbClr val="3B7EF7"/>
          </a:solidFill>
          <a:ln/>
        </p:spPr>
      </p:sp>
      <p:sp>
        <p:nvSpPr>
          <p:cNvPr id="45" name="Text 43"/>
          <p:cNvSpPr/>
          <p:nvPr/>
        </p:nvSpPr>
        <p:spPr>
          <a:xfrm>
            <a:off x="4663440" y="2542032"/>
            <a:ext cx="7315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Richiesto</a:t>
            </a:r>
            <a:endParaRPr lang="en-US" sz="450" dirty="0"/>
          </a:p>
        </p:txBody>
      </p:sp>
      <p:sp>
        <p:nvSpPr>
          <p:cNvPr id="46" name="Shape 44"/>
          <p:cNvSpPr/>
          <p:nvPr/>
        </p:nvSpPr>
        <p:spPr>
          <a:xfrm>
            <a:off x="3611880" y="3063240"/>
            <a:ext cx="1645920" cy="228600"/>
          </a:xfrm>
          <a:prstGeom prst="roundRect">
            <a:avLst>
              <a:gd name="adj" fmla="val 16000"/>
            </a:avLst>
          </a:prstGeom>
          <a:solidFill>
            <a:srgbClr val="F7B731"/>
          </a:solidFill>
          <a:ln/>
        </p:spPr>
      </p:sp>
      <p:sp>
        <p:nvSpPr>
          <p:cNvPr id="47" name="Text 45"/>
          <p:cNvSpPr/>
          <p:nvPr/>
        </p:nvSpPr>
        <p:spPr>
          <a:xfrm>
            <a:off x="3611880" y="3063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Nuovo Ordine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943600" y="914400"/>
            <a:ext cx="2926080" cy="9144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5943600" y="914400"/>
            <a:ext cx="45720" cy="9144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50" name="Text 48"/>
          <p:cNvSpPr/>
          <p:nvPr/>
        </p:nvSpPr>
        <p:spPr>
          <a:xfrm>
            <a:off x="6126480" y="9875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Real-time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2648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Canali per team + canali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singola urgenza.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Storico completo salvato.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943600" y="2011680"/>
            <a:ext cx="2926080" cy="9144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943600" y="2011680"/>
            <a:ext cx="45720" cy="91440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0" y="2084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Ordini da 3 canali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126480" y="23317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App mobile: pulsante + Nuovo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Telegram: /ordine cod qt cli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Admin dashboard: form completo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943600" y="3108960"/>
            <a:ext cx="2926080" cy="9144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943600" y="3108960"/>
            <a:ext cx="45720" cy="9144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58" name="Text 56"/>
          <p:cNvSpPr/>
          <p:nvPr/>
        </p:nvSpPr>
        <p:spPr>
          <a:xfrm>
            <a:off x="6126480" y="31821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Ordini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126480" y="3429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aggiornato → notifica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tecnico richiedente.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 automatico &gt;7gg.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274320" y="4297680"/>
            <a:ext cx="8595360" cy="4572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62" name="Text 60"/>
          <p:cNvSpPr/>
          <p:nvPr/>
        </p:nvSpPr>
        <p:spPr>
          <a:xfrm>
            <a:off x="457200" y="4315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ESERCIZIO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57200" y="4498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Inviare un messaggio nella chat team. Creare un ordine ricambi dall'app mobile. Verificare la notifica.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Sicurezza — Cosa Sapere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4114800" cy="3657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43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1143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personale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condividere mai la password.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Cambiarla ogni 90 giorni.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8 caratteri, lettere + numeri.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114800" cy="11887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05840"/>
            <a:ext cx="4114800" cy="3657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143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12080" y="1143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Dispositivo sicuro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1208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Usare il blocco schermo sul telefono.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lasciare l'app aperta incustodita.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Sessione scade dopo 24h automaticamente.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4114800" cy="11887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468880"/>
            <a:ext cx="4114800" cy="36576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2960" y="2606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i tuoi dati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2926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tecnico vede solo le proprie urgenze.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L'admin vede tutto ma con audit trail.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azione è registrata nel log.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63440" y="2468880"/>
            <a:ext cx="4114800" cy="11887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468880"/>
            <a:ext cx="4114800" cy="36576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📸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212080" y="2606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e dati sensibili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12080" y="2926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foto inviate via Telegram vengono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analizzate dall'AI e archiviate.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inviare dati personali dei clienti.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" y="41605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azione su Syntoniqa è tracciata: chi, cosa, quando, da dove. Il sistema mantiene un audit trail completo.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Esercizi Pratici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Completare tutti gli esercizi in ordine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8595360" cy="5486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97280"/>
            <a:ext cx="54864" cy="5486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07008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2070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143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Urgenza Completo (Admin)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1371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urgenza → Assegna a Jacopo → Verifica notifica TG → Jacopo prende → Jacopo risolve → Admin chiude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772400" y="12070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8595360" cy="5486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" y="1737360"/>
            <a:ext cx="54864" cy="54864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1847088"/>
            <a:ext cx="320040" cy="32004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84708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1783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Pianificazione Settimanale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20116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Creare 5 interventi per la prossima settimana, usare AI Planner, verificare assegnazione bilanciata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0" y="1847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377440"/>
            <a:ext cx="8595360" cy="5486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2377440"/>
            <a:ext cx="54864" cy="54864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2487168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48716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2423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Mobile Completo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2651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Installare PWA → Login → Prendere urgenza → Navigare → Iniziare → Risolvere con note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72400" y="24871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017520"/>
            <a:ext cx="8595360" cy="5486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27" name="Shape 25"/>
          <p:cNvSpPr/>
          <p:nvPr/>
        </p:nvSpPr>
        <p:spPr>
          <a:xfrm>
            <a:off x="274320" y="3017520"/>
            <a:ext cx="54864" cy="54864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" y="3127248"/>
            <a:ext cx="320040" cy="32004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1272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05840" y="3063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Bot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05840" y="32918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Eseguire tutti i comandi: /oggi, /vado, /incorso, /risolto, /ordine, inviare foto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772400" y="31272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B7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657600"/>
            <a:ext cx="8595360" cy="54864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4" name="Shape 32"/>
          <p:cNvSpPr/>
          <p:nvPr/>
        </p:nvSpPr>
        <p:spPr>
          <a:xfrm>
            <a:off x="274320" y="3657600"/>
            <a:ext cx="54864" cy="548640"/>
          </a:xfrm>
          <a:prstGeom prst="rect">
            <a:avLst/>
          </a:prstGeom>
          <a:solidFill>
            <a:srgbClr val="F7B731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3767328"/>
            <a:ext cx="320040" cy="320040"/>
          </a:xfrm>
          <a:prstGeom prst="ellipse">
            <a:avLst/>
          </a:prstGeom>
          <a:solidFill>
            <a:srgbClr val="F7B731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" y="37673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05840" y="3703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Emergenza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05840" y="3931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Simulare urgenza critica: SLA breach, escalation automatica, verifica notifiche a catena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772400" y="37673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7B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74320" y="4389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Suggerimento: lavorate in coppie Admin + Tecnico per simulare scenari reali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Reference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13716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114800" cy="3657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51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di Accesso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88720" y="13716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C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fieldforcemrser2026.github.io/syntoniqa/admin_v1.html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1627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Mobile: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88720" y="1627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C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fieldforcemrser2026.github.io/syntoniqa/index_v2.html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188366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TG: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88720" y="1883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7C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@SyntoniqaBot su Telegram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754880" y="914400"/>
            <a:ext cx="4114800" cy="13716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914400"/>
            <a:ext cx="4114800" cy="3657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051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Comandi Telegram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/vado  /incorso  /risolto  /stato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37760" y="16276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/oggi  /settimana  /ordine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37760" y="188366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 + testo libero → AI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468880"/>
            <a:ext cx="8595360" cy="137160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468880"/>
            <a:ext cx="8595360" cy="36576"/>
          </a:xfrm>
          <a:prstGeom prst="rect">
            <a:avLst/>
          </a:prstGeom>
          <a:solidFill>
            <a:srgbClr val="34D05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606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Urgenze — Cheat Sheet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C30A1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29260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crea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11480" y="3246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Nuova urgenza + cliente + macchina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1874520" y="292608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B731"/>
          </a:solidFill>
          <a:ln/>
        </p:spPr>
      </p:sp>
      <p:sp>
        <p:nvSpPr>
          <p:cNvPr id="26" name="Text 24"/>
          <p:cNvSpPr/>
          <p:nvPr/>
        </p:nvSpPr>
        <p:spPr>
          <a:xfrm>
            <a:off x="1874520" y="29260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assegna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828800" y="3246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Seleziona tecnico → notifica TG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3291840" y="292608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17C0EB"/>
          </a:solidFill>
          <a:ln/>
        </p:spPr>
      </p:sp>
      <p:sp>
        <p:nvSpPr>
          <p:cNvPr id="29" name="Text 27"/>
          <p:cNvSpPr/>
          <p:nvPr/>
        </p:nvSpPr>
        <p:spPr>
          <a:xfrm>
            <a:off x="3291840" y="29260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 prende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246120" y="3246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/vado N o pulsante app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4709160" y="292608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17C0EB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9260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 inizia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663440" y="3246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/incorso — timer parte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6126480" y="292608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34D058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0" y="29260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 risolve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080760" y="3246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/risolto note — chiusura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7543800" y="292608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/>
        </p:spPr>
      </p:sp>
      <p:sp>
        <p:nvSpPr>
          <p:cNvPr id="38" name="Text 36"/>
          <p:cNvSpPr/>
          <p:nvPr/>
        </p:nvSpPr>
        <p:spPr>
          <a:xfrm>
            <a:off x="7543800" y="29260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chiude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498080" y="32461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Convalida e archivia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solidFill>
            <a:srgbClr val="222222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74320" y="4023360"/>
            <a:ext cx="8595360" cy="36576"/>
          </a:xfrm>
          <a:prstGeom prst="rect">
            <a:avLst/>
          </a:prstGeom>
          <a:solidFill>
            <a:srgbClr val="8854D0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60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Marcello Bozzarelli — Telegram + Email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in-app: canale #supporto sempre attivo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Problemi tecnici: descrivere il problema con screenshot nel canale dedicato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formazione continua sul campo.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Ricordate: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L'app è sempre disponibile — anche come PWA offline (prossima release)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36758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Telegram Bot funziona anche senza connessione dati stabile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9684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Ogni azione è tracciata — usate il sistema per tutto il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2611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In caso di dubbi, scrivete nel canale #supporto della chat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 v1.0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4663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fieldforcemrser2026.github.io/syntoniqa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Syntoniqa v1.0 — Training Deck</dc:title>
  <dc:subject>PptxGenJS Presentation</dc:subject>
  <dc:creator>Syntoniqa</dc:creator>
  <cp:lastModifiedBy>Syntoniqa</cp:lastModifiedBy>
  <cp:revision>1</cp:revision>
  <dcterms:created xsi:type="dcterms:W3CDTF">2026-03-03T11:55:25Z</dcterms:created>
  <dcterms:modified xsi:type="dcterms:W3CDTF">2026-03-03T11:55:25Z</dcterms:modified>
</cp:coreProperties>
</file>