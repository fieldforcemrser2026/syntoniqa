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30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FORMAZIONE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SYNTONIQA v1.0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Sessione pratica per Admin e Tecnici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3657600" cy="137160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3200400"/>
            <a:ext cx="54864" cy="1371600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3383280"/>
            <a:ext cx="457200" cy="457200"/>
          </a:xfrm>
          <a:prstGeom prst="ellipse">
            <a:avLst/>
          </a:prstGeom>
          <a:solidFill>
            <a:srgbClr val="C30A14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gestione urgenze,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piano interventi, KPI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3-10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3200400"/>
            <a:ext cx="3657600" cy="137160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3200400"/>
            <a:ext cx="54864" cy="1371600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3383280"/>
            <a:ext cx="457200" cy="457200"/>
          </a:xfrm>
          <a:prstGeom prst="ellipse">
            <a:avLst/>
          </a:prstGeom>
          <a:solidFill>
            <a:srgbClr val="3B7EF7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6072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TECNICO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6072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mobile, Telegram Bot,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sul campo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11-18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MRS Lely Center Emilia Romagna — Marzo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0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051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&amp; Primo Accesso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0" y="1051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17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0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— Dashboard &amp; Navigazione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783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0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— Gestione Urgenze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148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0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— Piano Interventi &amp; AI Planner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514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0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2514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— KPI &amp; Analytics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880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TECNICO — App Mobile PWA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8872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TECNICO — Workflow Urgenze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3246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611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7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88720" y="3611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TECNICO — Telegram Bot &amp; AI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977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88720" y="3977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Esercizi Pratici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343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5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88720" y="4343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8000" y="4343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754880"/>
            <a:ext cx="8229600" cy="27432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Durata totale: ~2 ore   |   Ogni sezione include esercizio pratico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3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Login &amp; Primo Accesso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029200" cy="3200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502920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005840"/>
            <a:ext cx="91440" cy="91440"/>
          </a:xfrm>
          <a:prstGeom prst="ellipse">
            <a:avLst/>
          </a:prstGeom>
          <a:solidFill>
            <a:srgbClr val="C30A14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005840"/>
            <a:ext cx="91440" cy="91440"/>
          </a:xfrm>
          <a:prstGeom prst="ellipse">
            <a:avLst/>
          </a:prstGeom>
          <a:solidFill>
            <a:srgbClr val="F7B731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1005840"/>
            <a:ext cx="91440" cy="91440"/>
          </a:xfrm>
          <a:prstGeom prst="ellipse">
            <a:avLst/>
          </a:prstGeom>
          <a:solidFill>
            <a:srgbClr val="34D058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969264"/>
            <a:ext cx="3931920" cy="164592"/>
          </a:xfrm>
          <a:prstGeom prst="roundRect">
            <a:avLst>
              <a:gd name="adj" fmla="val 22222"/>
            </a:avLst>
          </a:prstGeom>
          <a:solidFill>
            <a:srgbClr val="3A3A3A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969264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admin_v1.html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828800" y="1463040"/>
            <a:ext cx="2286000" cy="228600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3" name="Shape 11"/>
          <p:cNvSpPr/>
          <p:nvPr/>
        </p:nvSpPr>
        <p:spPr>
          <a:xfrm>
            <a:off x="1828800" y="1463040"/>
            <a:ext cx="2286000" cy="36576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SYNTONIQA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57400" y="2331720"/>
            <a:ext cx="1828800" cy="228600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2148840" y="2331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m.bozzarelli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057400" y="2651760"/>
            <a:ext cx="1828800" cy="228600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2148840" y="2651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••••••••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057400" y="3063240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C30A14"/>
          </a:solidFill>
          <a:ln/>
        </p:spPr>
      </p:sp>
      <p:sp>
        <p:nvSpPr>
          <p:cNvPr id="21" name="Text 19"/>
          <p:cNvSpPr/>
          <p:nvPr/>
        </p:nvSpPr>
        <p:spPr>
          <a:xfrm>
            <a:off x="205740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Accedi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0" y="1051560"/>
            <a:ext cx="320040" cy="320040"/>
          </a:xfrm>
          <a:prstGeom prst="ellipse">
            <a:avLst/>
          </a:prstGeom>
          <a:solidFill>
            <a:srgbClr val="C30A14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0" y="1051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1005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 il browser e vai all'URL: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admin_v1.html (Admin)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index_v2.html (Tecnico)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1828800"/>
            <a:ext cx="320040" cy="320040"/>
          </a:xfrm>
          <a:prstGeom prst="ellipse">
            <a:avLst/>
          </a:prstGeom>
          <a:solidFill>
            <a:srgbClr val="C30A14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Inserisci username e password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forniti dall'amministratore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0" y="2606040"/>
            <a:ext cx="320040" cy="320040"/>
          </a:xfrm>
          <a:prstGeom prst="ellipse">
            <a:avLst/>
          </a:prstGeom>
          <a:solidFill>
            <a:srgbClr val="C30A14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0" y="2560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primo login cambierai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password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3383280"/>
            <a:ext cx="320040" cy="320040"/>
          </a:xfrm>
          <a:prstGeom prst="ellipse">
            <a:avLst/>
          </a:prstGeom>
          <a:solidFill>
            <a:srgbClr val="C30A14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sistema ricorda la sessione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24 ore (JWT token)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297680"/>
            <a:ext cx="54864" cy="548640"/>
          </a:xfrm>
          <a:prstGeom prst="rect">
            <a:avLst/>
          </a:prstGeom>
          <a:solidFill>
            <a:srgbClr val="34D058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315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ESERCIZIO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partecipante effettua il login con le proprie credenziali. Verificare che la dashboard si carichi correttamente.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3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Admin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3291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005840"/>
            <a:ext cx="91440" cy="91440"/>
          </a:xfrm>
          <a:prstGeom prst="ellipse">
            <a:avLst/>
          </a:prstGeom>
          <a:solidFill>
            <a:srgbClr val="C30A14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005840"/>
            <a:ext cx="91440" cy="91440"/>
          </a:xfrm>
          <a:prstGeom prst="ellipse">
            <a:avLst/>
          </a:prstGeom>
          <a:solidFill>
            <a:srgbClr val="F7B731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1005840"/>
            <a:ext cx="91440" cy="91440"/>
          </a:xfrm>
          <a:prstGeom prst="ellipse">
            <a:avLst/>
          </a:prstGeom>
          <a:solidFill>
            <a:srgbClr val="34D058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969264"/>
            <a:ext cx="7498080" cy="164592"/>
          </a:xfrm>
          <a:prstGeom prst="roundRect">
            <a:avLst>
              <a:gd name="adj" fmla="val 22222"/>
            </a:avLst>
          </a:prstGeom>
          <a:solidFill>
            <a:srgbClr val="3A3A3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969264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admin_v1.html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74320" y="1188720"/>
            <a:ext cx="1097280" cy="301752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1325880"/>
            <a:ext cx="1097280" cy="256032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325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365760" y="16002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Urgenze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65760" y="18745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65760" y="2148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Ordini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365760" y="2423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Clienti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65760" y="26974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Macchine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65760" y="29718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Mappa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65760" y="3246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65760" y="35204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1463040" y="1325880"/>
            <a:ext cx="1691640" cy="59436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4" name="Text 22"/>
          <p:cNvSpPr/>
          <p:nvPr/>
        </p:nvSpPr>
        <p:spPr>
          <a:xfrm>
            <a:off x="1554480" y="1325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3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54480" y="1645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Urgenze Aperte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291840" y="1325880"/>
            <a:ext cx="1691640" cy="59436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1325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7E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83280" y="1645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 Oggi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5120640" y="1325880"/>
            <a:ext cx="1691640" cy="59436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1325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0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12080" y="1645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Compliance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6949440" y="1325880"/>
            <a:ext cx="1691640" cy="59436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1325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40880" y="1645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Ordini Pendenti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1463040" y="2103120"/>
            <a:ext cx="4389120" cy="20116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6" name="Text 34"/>
          <p:cNvSpPr/>
          <p:nvPr/>
        </p:nvSpPr>
        <p:spPr>
          <a:xfrm>
            <a:off x="1554480" y="21031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     Cliente          Stato          Tecnico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1463040" y="2322576"/>
            <a:ext cx="4389120" cy="1737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8" name="Text 36"/>
          <p:cNvSpPr/>
          <p:nvPr/>
        </p:nvSpPr>
        <p:spPr>
          <a:xfrm>
            <a:off x="1554480" y="2322576"/>
            <a:ext cx="42062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URG_042  Az. Rossi      IN_CORSO    Jacopo</a:t>
            </a:r>
            <a:endParaRPr lang="en-US" sz="500" dirty="0"/>
          </a:p>
        </p:txBody>
      </p:sp>
      <p:sp>
        <p:nvSpPr>
          <p:cNvPr id="39" name="Shape 37"/>
          <p:cNvSpPr/>
          <p:nvPr/>
        </p:nvSpPr>
        <p:spPr>
          <a:xfrm>
            <a:off x="1463040" y="2505456"/>
            <a:ext cx="4389120" cy="173736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0" name="Text 38"/>
          <p:cNvSpPr/>
          <p:nvPr/>
        </p:nvSpPr>
        <p:spPr>
          <a:xfrm>
            <a:off x="1554480" y="2505456"/>
            <a:ext cx="42062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URG_041  Coop Verdi     ASSEGNATA   Anton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1463040" y="2688336"/>
            <a:ext cx="4389120" cy="1737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2" name="Text 40"/>
          <p:cNvSpPr/>
          <p:nvPr/>
        </p:nvSpPr>
        <p:spPr>
          <a:xfrm>
            <a:off x="1554480" y="2688336"/>
            <a:ext cx="42062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URG_040  Latteria B.    APERTA      —</a:t>
            </a:r>
            <a:endParaRPr lang="en-US" sz="500" dirty="0"/>
          </a:p>
        </p:txBody>
      </p:sp>
      <p:sp>
        <p:nvSpPr>
          <p:cNvPr id="43" name="Shape 41"/>
          <p:cNvSpPr/>
          <p:nvPr/>
        </p:nvSpPr>
        <p:spPr>
          <a:xfrm>
            <a:off x="6126480" y="2103120"/>
            <a:ext cx="2560320" cy="155448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4" name="Text 42"/>
          <p:cNvSpPr/>
          <p:nvPr/>
        </p:nvSpPr>
        <p:spPr>
          <a:xfrm>
            <a:off x="6217920" y="21488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Urgenze Ultimi 7 Giorni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6309360" y="2971800"/>
            <a:ext cx="182880" cy="411480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46" name="Shape 44"/>
          <p:cNvSpPr/>
          <p:nvPr/>
        </p:nvSpPr>
        <p:spPr>
          <a:xfrm>
            <a:off x="6629400" y="3136392"/>
            <a:ext cx="182880" cy="246888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47" name="Shape 45"/>
          <p:cNvSpPr/>
          <p:nvPr/>
        </p:nvSpPr>
        <p:spPr>
          <a:xfrm>
            <a:off x="6949440" y="2807208"/>
            <a:ext cx="182880" cy="576072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48" name="Shape 46"/>
          <p:cNvSpPr/>
          <p:nvPr/>
        </p:nvSpPr>
        <p:spPr>
          <a:xfrm>
            <a:off x="7269480" y="3054096"/>
            <a:ext cx="182880" cy="329184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49" name="Shape 47"/>
          <p:cNvSpPr/>
          <p:nvPr/>
        </p:nvSpPr>
        <p:spPr>
          <a:xfrm>
            <a:off x="7589520" y="2889504"/>
            <a:ext cx="182880" cy="493776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50" name="Shape 48"/>
          <p:cNvSpPr/>
          <p:nvPr/>
        </p:nvSpPr>
        <p:spPr>
          <a:xfrm>
            <a:off x="7909560" y="2724912"/>
            <a:ext cx="182880" cy="658368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51" name="Shape 49"/>
          <p:cNvSpPr/>
          <p:nvPr/>
        </p:nvSpPr>
        <p:spPr>
          <a:xfrm>
            <a:off x="8229600" y="3012948"/>
            <a:ext cx="182880" cy="370332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52" name="Shape 50"/>
          <p:cNvSpPr/>
          <p:nvPr/>
        </p:nvSpPr>
        <p:spPr>
          <a:xfrm>
            <a:off x="274320" y="4389120"/>
            <a:ext cx="228600" cy="228600"/>
          </a:xfrm>
          <a:prstGeom prst="ellipse">
            <a:avLst/>
          </a:prstGeom>
          <a:solidFill>
            <a:srgbClr val="C30A14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" y="4389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9436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Sidebar: 33 sezioni, click per navigare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926080" y="4389120"/>
            <a:ext cx="228600" cy="228600"/>
          </a:xfrm>
          <a:prstGeom prst="ellipse">
            <a:avLst/>
          </a:prstGeom>
          <a:solidFill>
            <a:srgbClr val="3B7EF7"/>
          </a:solidFill>
          <a:ln/>
        </p:spPr>
      </p:sp>
      <p:sp>
        <p:nvSpPr>
          <p:cNvPr id="56" name="Text 54"/>
          <p:cNvSpPr/>
          <p:nvPr/>
        </p:nvSpPr>
        <p:spPr>
          <a:xfrm>
            <a:off x="2926080" y="4389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24612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 cards: numeri real-time, aggiornati automaticamente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943600" y="4389120"/>
            <a:ext cx="228600" cy="228600"/>
          </a:xfrm>
          <a:prstGeom prst="ellipse">
            <a:avLst/>
          </a:prstGeom>
          <a:solidFill>
            <a:srgbClr val="34D058"/>
          </a:solidFill>
          <a:ln/>
        </p:spPr>
      </p:sp>
      <p:sp>
        <p:nvSpPr>
          <p:cNvPr id="59" name="Text 57"/>
          <p:cNvSpPr/>
          <p:nvPr/>
        </p:nvSpPr>
        <p:spPr>
          <a:xfrm>
            <a:off x="5943600" y="4389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6364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Tabella: click su riga per aprire dettaglio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3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Gestione Urgenze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C30A1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0" y="868680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F7B731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868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Assegnata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F7B731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868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Schedulata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17C0E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868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Corso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0" y="868680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34D05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868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Risolta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315200" y="868680"/>
            <a:ext cx="1188720" cy="320040"/>
          </a:xfrm>
          <a:prstGeom prst="roundRect">
            <a:avLst>
              <a:gd name="adj" fmla="val 17143"/>
            </a:avLst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868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Chiusa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645920" y="996696"/>
            <a:ext cx="182880" cy="27432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8" name="Shape 16"/>
          <p:cNvSpPr/>
          <p:nvPr/>
        </p:nvSpPr>
        <p:spPr>
          <a:xfrm>
            <a:off x="3017520" y="996696"/>
            <a:ext cx="182880" cy="27432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0" y="996696"/>
            <a:ext cx="182880" cy="27432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0" name="Shape 18"/>
          <p:cNvSpPr/>
          <p:nvPr/>
        </p:nvSpPr>
        <p:spPr>
          <a:xfrm>
            <a:off x="5760720" y="996696"/>
            <a:ext cx="182880" cy="27432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996696"/>
            <a:ext cx="182880" cy="27432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1371600"/>
            <a:ext cx="5029200" cy="25603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1371600"/>
            <a:ext cx="502920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1463040"/>
            <a:ext cx="91440" cy="91440"/>
          </a:xfrm>
          <a:prstGeom prst="ellipse">
            <a:avLst/>
          </a:prstGeom>
          <a:solidFill>
            <a:srgbClr val="C30A14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1463040"/>
            <a:ext cx="91440" cy="91440"/>
          </a:xfrm>
          <a:prstGeom prst="ellipse">
            <a:avLst/>
          </a:prstGeom>
          <a:solidFill>
            <a:srgbClr val="F7B731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1463040"/>
            <a:ext cx="91440" cy="91440"/>
          </a:xfrm>
          <a:prstGeom prst="ellipse">
            <a:avLst/>
          </a:prstGeom>
          <a:solidFill>
            <a:srgbClr val="34D058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5840" y="1426464"/>
            <a:ext cx="3931920" cy="164592"/>
          </a:xfrm>
          <a:prstGeom prst="roundRect">
            <a:avLst>
              <a:gd name="adj" fmla="val 22222"/>
            </a:avLst>
          </a:prstGeom>
          <a:solidFill>
            <a:srgbClr val="3A3A3A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1426464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admin_v1.html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65760" y="1737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Dettaglio Urgenza URG_042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574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Cliente: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1554480" y="2057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Az. Rossi — Parma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11480" y="2331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Macchina: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1554480" y="2331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A5 Astronaut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11480" y="2606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Priorità: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554480" y="2606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30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11480" y="2880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Tecnico: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554480" y="2880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Jacopo Bonadé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11480" y="3154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Stato: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554480" y="3154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7C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IN_CORSO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11480" y="3429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SLA: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1554480" y="3429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4D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— 2h 15min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11480" y="374904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3B7EF7"/>
          </a:solidFill>
          <a:ln/>
        </p:spPr>
      </p:sp>
      <p:sp>
        <p:nvSpPr>
          <p:cNvPr id="43" name="Text 41"/>
          <p:cNvSpPr/>
          <p:nvPr/>
        </p:nvSpPr>
        <p:spPr>
          <a:xfrm>
            <a:off x="411480" y="3749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Assegna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645920" y="374904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34D058"/>
          </a:solidFill>
          <a:ln/>
        </p:spPr>
      </p:sp>
      <p:sp>
        <p:nvSpPr>
          <p:cNvPr id="45" name="Text 43"/>
          <p:cNvSpPr/>
          <p:nvPr/>
        </p:nvSpPr>
        <p:spPr>
          <a:xfrm>
            <a:off x="1645920" y="3749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66928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Azioni Admin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669280" y="1874520"/>
            <a:ext cx="320040" cy="320040"/>
          </a:xfrm>
          <a:prstGeom prst="ellipse">
            <a:avLst/>
          </a:prstGeom>
          <a:solidFill>
            <a:srgbClr val="C30A14"/>
          </a:solidFill>
          <a:ln/>
        </p:spPr>
      </p:sp>
      <p:sp>
        <p:nvSpPr>
          <p:cNvPr id="48" name="Text 46"/>
          <p:cNvSpPr/>
          <p:nvPr/>
        </p:nvSpPr>
        <p:spPr>
          <a:xfrm>
            <a:off x="566928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12648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Urgenza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26480" y="20299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Nuova Urgenza dal pulsante in alto.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 cliente, macchina, descrizione.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669280" y="2468880"/>
            <a:ext cx="320040" cy="320040"/>
          </a:xfrm>
          <a:prstGeom prst="ellipse">
            <a:avLst/>
          </a:prstGeom>
          <a:solidFill>
            <a:srgbClr val="3B7EF7"/>
          </a:solidFill>
          <a:ln/>
        </p:spPr>
      </p:sp>
      <p:sp>
        <p:nvSpPr>
          <p:cNvPr id="52" name="Text 50"/>
          <p:cNvSpPr/>
          <p:nvPr/>
        </p:nvSpPr>
        <p:spPr>
          <a:xfrm>
            <a:off x="566928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12648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Assegna Tecnico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126480" y="26243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Seleziona il tecnico dal dropdown.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sistema invia notifica Telegram.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669280" y="3063240"/>
            <a:ext cx="320040" cy="320040"/>
          </a:xfrm>
          <a:prstGeom prst="ellipse">
            <a:avLst/>
          </a:prstGeom>
          <a:solidFill>
            <a:srgbClr val="F7B731"/>
          </a:solidFill>
          <a:ln/>
        </p:spPr>
      </p:sp>
      <p:sp>
        <p:nvSpPr>
          <p:cNvPr id="56" name="Text 54"/>
          <p:cNvSpPr/>
          <p:nvPr/>
        </p:nvSpPr>
        <p:spPr>
          <a:xfrm>
            <a:off x="566928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126480" y="3017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 SLA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26480" y="3218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badge colore cambiano: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→ Warning → Critical → Breach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669280" y="3657600"/>
            <a:ext cx="320040" cy="320040"/>
          </a:xfrm>
          <a:prstGeom prst="ellipse">
            <a:avLst/>
          </a:prstGeom>
          <a:solidFill>
            <a:srgbClr val="34D058"/>
          </a:solidFill>
          <a:ln/>
        </p:spPr>
      </p:sp>
      <p:sp>
        <p:nvSpPr>
          <p:cNvPr id="60" name="Text 58"/>
          <p:cNvSpPr/>
          <p:nvPr/>
        </p:nvSpPr>
        <p:spPr>
          <a:xfrm>
            <a:off x="566928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12648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Chiudi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126480" y="3813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Dopo 'Risolta' dal tecnico,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l'admin convalida e chiude.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274320" y="4160520"/>
            <a:ext cx="8595360" cy="54864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74320" y="4160520"/>
            <a:ext cx="54864" cy="548640"/>
          </a:xfrm>
          <a:prstGeom prst="rect">
            <a:avLst/>
          </a:prstGeom>
          <a:solidFill>
            <a:srgbClr val="34D058"/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" y="4178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ESERCIZIO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Creare una nuova urgenza per 'Azienda Demo', assegnarla a Jacopo, verificare che riceva la notifica Telegram.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3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Piano Interventi &amp; AI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029200" cy="22860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02920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914400"/>
            <a:ext cx="91440" cy="91440"/>
          </a:xfrm>
          <a:prstGeom prst="ellipse">
            <a:avLst/>
          </a:prstGeom>
          <a:solidFill>
            <a:srgbClr val="C30A14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914400"/>
            <a:ext cx="91440" cy="91440"/>
          </a:xfrm>
          <a:prstGeom prst="ellipse">
            <a:avLst/>
          </a:prstGeom>
          <a:solidFill>
            <a:srgbClr val="F7B731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914400"/>
            <a:ext cx="91440" cy="91440"/>
          </a:xfrm>
          <a:prstGeom prst="ellipse">
            <a:avLst/>
          </a:prstGeom>
          <a:solidFill>
            <a:srgbClr val="34D058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877824"/>
            <a:ext cx="3931920" cy="164592"/>
          </a:xfrm>
          <a:prstGeom prst="roundRect">
            <a:avLst>
              <a:gd name="adj" fmla="val 22222"/>
            </a:avLst>
          </a:prstGeom>
          <a:solidFill>
            <a:srgbClr val="3A3A3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877824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admin_v1.html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74320" y="1097280"/>
            <a:ext cx="5029200" cy="22860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0972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57200" y="1298448"/>
            <a:ext cx="1188720" cy="27432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10972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00400" y="10972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Mappa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65760" y="1417320"/>
            <a:ext cx="4846320" cy="38404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1417320"/>
            <a:ext cx="36576" cy="384048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143560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INT_089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463040" y="143560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Az. Rossi — PM Trimestrale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502920" y="1618488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03/03  |  Jacopo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3931920" y="1508760"/>
            <a:ext cx="822960" cy="182880"/>
          </a:xfrm>
          <a:prstGeom prst="roundRect">
            <a:avLst>
              <a:gd name="adj" fmla="val 15000"/>
            </a:avLst>
          </a:prstGeom>
          <a:solidFill>
            <a:srgbClr val="3B7EF7"/>
          </a:solidFill>
          <a:ln/>
        </p:spPr>
      </p:sp>
      <p:sp>
        <p:nvSpPr>
          <p:cNvPr id="23" name="Text 21"/>
          <p:cNvSpPr/>
          <p:nvPr/>
        </p:nvSpPr>
        <p:spPr>
          <a:xfrm>
            <a:off x="3931920" y="1508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pianificato</a:t>
            </a:r>
            <a:endParaRPr lang="en-US" sz="500" dirty="0"/>
          </a:p>
        </p:txBody>
      </p:sp>
      <p:sp>
        <p:nvSpPr>
          <p:cNvPr id="24" name="Shape 22"/>
          <p:cNvSpPr/>
          <p:nvPr/>
        </p:nvSpPr>
        <p:spPr>
          <a:xfrm>
            <a:off x="365760" y="1874520"/>
            <a:ext cx="4846320" cy="38404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1874520"/>
            <a:ext cx="36576" cy="384048"/>
          </a:xfrm>
          <a:prstGeom prst="rect">
            <a:avLst/>
          </a:prstGeom>
          <a:solidFill>
            <a:srgbClr val="17C0EB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189280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INT_090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463040" y="189280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 Verdi — Sostituzione sensore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502920" y="2075688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03/03  |  Anton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3931920" y="1965960"/>
            <a:ext cx="822960" cy="182880"/>
          </a:xfrm>
          <a:prstGeom prst="roundRect">
            <a:avLst>
              <a:gd name="adj" fmla="val 15000"/>
            </a:avLst>
          </a:prstGeom>
          <a:solidFill>
            <a:srgbClr val="17C0EB"/>
          </a:solidFill>
          <a:ln/>
        </p:spPr>
      </p:sp>
      <p:sp>
        <p:nvSpPr>
          <p:cNvPr id="30" name="Text 28"/>
          <p:cNvSpPr/>
          <p:nvPr/>
        </p:nvSpPr>
        <p:spPr>
          <a:xfrm>
            <a:off x="3931920" y="19659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in_corso</a:t>
            </a:r>
            <a:endParaRPr lang="en-US" sz="500" dirty="0"/>
          </a:p>
        </p:txBody>
      </p:sp>
      <p:sp>
        <p:nvSpPr>
          <p:cNvPr id="31" name="Shape 29"/>
          <p:cNvSpPr/>
          <p:nvPr/>
        </p:nvSpPr>
        <p:spPr>
          <a:xfrm>
            <a:off x="365760" y="2331720"/>
            <a:ext cx="4846320" cy="38404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" y="2331720"/>
            <a:ext cx="36576" cy="384048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235000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INT_091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463040" y="2350008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Latteria B. — Manutenzione robot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502920" y="2532888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04/03  |  Giovanni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3931920" y="2423160"/>
            <a:ext cx="822960" cy="182880"/>
          </a:xfrm>
          <a:prstGeom prst="roundRect">
            <a:avLst>
              <a:gd name="adj" fmla="val 15000"/>
            </a:avLst>
          </a:prstGeom>
          <a:solidFill>
            <a:srgbClr val="3B7EF7"/>
          </a:solidFill>
          <a:ln/>
        </p:spPr>
      </p:sp>
      <p:sp>
        <p:nvSpPr>
          <p:cNvPr id="37" name="Text 35"/>
          <p:cNvSpPr/>
          <p:nvPr/>
        </p:nvSpPr>
        <p:spPr>
          <a:xfrm>
            <a:off x="3931920" y="24231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pianificato</a:t>
            </a:r>
            <a:endParaRPr lang="en-US" sz="500" dirty="0"/>
          </a:p>
        </p:txBody>
      </p:sp>
      <p:sp>
        <p:nvSpPr>
          <p:cNvPr id="38" name="Shape 36"/>
          <p:cNvSpPr/>
          <p:nvPr/>
        </p:nvSpPr>
        <p:spPr>
          <a:xfrm>
            <a:off x="5669280" y="822960"/>
            <a:ext cx="3200400" cy="228600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669280" y="822960"/>
            <a:ext cx="3200400" cy="36576"/>
          </a:xfrm>
          <a:prstGeom prst="rect">
            <a:avLst/>
          </a:prstGeom>
          <a:solidFill>
            <a:srgbClr val="8854D0"/>
          </a:solidFill>
          <a:ln/>
        </p:spPr>
      </p:sp>
      <p:sp>
        <p:nvSpPr>
          <p:cNvPr id="40" name="Text 38"/>
          <p:cNvSpPr/>
          <p:nvPr/>
        </p:nvSpPr>
        <p:spPr>
          <a:xfrm>
            <a:off x="585216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Planner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5216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AI suggerisce la pianificazione ottimale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considerando: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5216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Posizione tecnici e clienti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852160" y="2084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Competenze specifiche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852160" y="23408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Carichi di lavoro bilanciati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852160" y="25968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 Distanze e tempi percorrenza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852160" y="28529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Regole affiancamento junior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3383280"/>
            <a:ext cx="8595360" cy="54864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74320" y="3383280"/>
            <a:ext cx="54864" cy="548640"/>
          </a:xfrm>
          <a:prstGeom prst="rect">
            <a:avLst/>
          </a:prstGeom>
          <a:solidFill>
            <a:srgbClr val="34D058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34015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ESERCIZIO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Creare 3 interventi per la settimana prossima. Usare l'AI Planner per ottimizzare l'assegnazione. Confrontare il suggerimento AI con l'assegnazione manuale.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7432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 Piano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44348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3B7EF7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" y="4434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Pianificato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377440" y="44348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17C0EB"/>
          </a:solidFill>
          <a:ln/>
        </p:spPr>
      </p:sp>
      <p:sp>
        <p:nvSpPr>
          <p:cNvPr id="55" name="Text 53"/>
          <p:cNvSpPr/>
          <p:nvPr/>
        </p:nvSpPr>
        <p:spPr>
          <a:xfrm>
            <a:off x="2377440" y="4434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Corso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480560" y="44348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34D058"/>
          </a:solidFill>
          <a:ln/>
        </p:spPr>
      </p:sp>
      <p:sp>
        <p:nvSpPr>
          <p:cNvPr id="57" name="Text 55"/>
          <p:cNvSpPr/>
          <p:nvPr/>
        </p:nvSpPr>
        <p:spPr>
          <a:xfrm>
            <a:off x="4480560" y="4434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Completato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583680" y="44348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888888"/>
          </a:solidFill>
          <a:ln/>
        </p:spPr>
      </p:sp>
      <p:sp>
        <p:nvSpPr>
          <p:cNvPr id="59" name="Text 57"/>
          <p:cNvSpPr/>
          <p:nvPr/>
        </p:nvSpPr>
        <p:spPr>
          <a:xfrm>
            <a:off x="6583680" y="4434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Annullato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783080" y="4544568"/>
            <a:ext cx="274320" cy="27432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61" name="Shape 59"/>
          <p:cNvSpPr/>
          <p:nvPr/>
        </p:nvSpPr>
        <p:spPr>
          <a:xfrm>
            <a:off x="3886200" y="4544568"/>
            <a:ext cx="274320" cy="27432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62" name="Shape 60"/>
          <p:cNvSpPr/>
          <p:nvPr/>
        </p:nvSpPr>
        <p:spPr>
          <a:xfrm>
            <a:off x="5989320" y="4544568"/>
            <a:ext cx="274320" cy="27432"/>
          </a:xfrm>
          <a:prstGeom prst="rect">
            <a:avLst/>
          </a:prstGeom>
          <a:solidFill>
            <a:srgbClr val="888888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3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Anagrafiche &amp; Ordini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697480" cy="320040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697480" cy="36576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371600"/>
            <a:ext cx="2423160" cy="2286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3716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Ragione Sociale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645920"/>
            <a:ext cx="2423160" cy="2286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4592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Indirizzo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920240"/>
            <a:ext cx="2423160" cy="2286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202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1480" y="2194560"/>
            <a:ext cx="2423160" cy="2286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1945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Lat/Lng (Mappa)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" y="2468880"/>
            <a:ext cx="2423160" cy="2286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4688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1480" y="2743200"/>
            <a:ext cx="2423160" cy="2286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7432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11480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Importazione Excel disponibile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caricamento massivo.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154680" y="822960"/>
            <a:ext cx="2697480" cy="320040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822960"/>
            <a:ext cx="2697480" cy="36576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Macchine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91840" y="1371600"/>
            <a:ext cx="2423160" cy="2286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13716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Modello Lely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91840" y="1645920"/>
            <a:ext cx="2423160" cy="2286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164592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Numero Serie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91840" y="1920240"/>
            <a:ext cx="2423160" cy="2286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19202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associato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91840" y="2194560"/>
            <a:ext cx="2423160" cy="2286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21945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Installazione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91840" y="2468880"/>
            <a:ext cx="2423160" cy="2286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3" name="Text 31"/>
          <p:cNvSpPr/>
          <p:nvPr/>
        </p:nvSpPr>
        <p:spPr>
          <a:xfrm>
            <a:off x="3383280" y="24688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Ultimo PM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91840" y="2743200"/>
            <a:ext cx="2423160" cy="2286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27432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tecniche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291840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Associazione 1:N con cliente.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Storico manutenzioni collegato.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035040" y="822960"/>
            <a:ext cx="2697480" cy="320040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35040" y="822960"/>
            <a:ext cx="2697480" cy="36576"/>
          </a:xfrm>
          <a:prstGeom prst="rect">
            <a:avLst/>
          </a:prstGeom>
          <a:solidFill>
            <a:srgbClr val="F7B731"/>
          </a:solidFill>
          <a:ln/>
        </p:spPr>
      </p:sp>
      <p:sp>
        <p:nvSpPr>
          <p:cNvPr id="39" name="Text 37"/>
          <p:cNvSpPr/>
          <p:nvPr/>
        </p:nvSpPr>
        <p:spPr>
          <a:xfrm>
            <a:off x="6172200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Ordini Ricambi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72200" y="1371600"/>
            <a:ext cx="2423160" cy="2286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13716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Codice ricambio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172200" y="1645920"/>
            <a:ext cx="2423160" cy="2286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3" name="Text 41"/>
          <p:cNvSpPr/>
          <p:nvPr/>
        </p:nvSpPr>
        <p:spPr>
          <a:xfrm>
            <a:off x="6263640" y="164592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Quantità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172200" y="1920240"/>
            <a:ext cx="2423160" cy="2286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5" name="Text 43"/>
          <p:cNvSpPr/>
          <p:nvPr/>
        </p:nvSpPr>
        <p:spPr>
          <a:xfrm>
            <a:off x="6263640" y="192024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Tecnico richiedente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72200" y="2194560"/>
            <a:ext cx="2423160" cy="2286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7" name="Text 45"/>
          <p:cNvSpPr/>
          <p:nvPr/>
        </p:nvSpPr>
        <p:spPr>
          <a:xfrm>
            <a:off x="6263640" y="21945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destinazione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172200" y="2468880"/>
            <a:ext cx="2423160" cy="2286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9" name="Text 47"/>
          <p:cNvSpPr/>
          <p:nvPr/>
        </p:nvSpPr>
        <p:spPr>
          <a:xfrm>
            <a:off x="6263640" y="246888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Stato ordine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172200" y="2743200"/>
            <a:ext cx="2423160" cy="2286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51" name="Text 49"/>
          <p:cNvSpPr/>
          <p:nvPr/>
        </p:nvSpPr>
        <p:spPr>
          <a:xfrm>
            <a:off x="6263640" y="27432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richiesta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172200" y="32918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Creabile anche via Telegram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/ordine codice qt cliente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74320" y="4206240"/>
            <a:ext cx="54864" cy="548640"/>
          </a:xfrm>
          <a:prstGeom prst="rect">
            <a:avLst/>
          </a:prstGeom>
          <a:solidFill>
            <a:srgbClr val="34D058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224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ESERCIZIO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Aggiungere un nuovo cliente 'Azienda Demo', associargli una macchina Lely A5, creare un ordine ricambi per sensore temperatura.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3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 &amp; Analytics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274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30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965960" cy="91440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868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Urgenze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risolte mese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645920" y="9144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822960"/>
            <a:ext cx="1965960" cy="91440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868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2.4h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1460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medio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risoluzione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794760" y="9144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-35%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822960"/>
            <a:ext cx="1965960" cy="91440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868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6344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43600" y="9144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0840" y="822960"/>
            <a:ext cx="1965960" cy="91440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868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1228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completati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092440" y="9144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1920240"/>
            <a:ext cx="5303520" cy="228600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Urgenze — Ultimi 30 giorni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3291840"/>
            <a:ext cx="457200" cy="18288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7280" y="3291840"/>
            <a:ext cx="457200" cy="18288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26" name="Shape 24"/>
          <p:cNvSpPr/>
          <p:nvPr/>
        </p:nvSpPr>
        <p:spPr>
          <a:xfrm>
            <a:off x="1554480" y="3017520"/>
            <a:ext cx="457200" cy="18288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27" name="Shape 25"/>
          <p:cNvSpPr/>
          <p:nvPr/>
        </p:nvSpPr>
        <p:spPr>
          <a:xfrm>
            <a:off x="2011680" y="3017520"/>
            <a:ext cx="457200" cy="18288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28" name="Shape 26"/>
          <p:cNvSpPr/>
          <p:nvPr/>
        </p:nvSpPr>
        <p:spPr>
          <a:xfrm>
            <a:off x="2468880" y="2834640"/>
            <a:ext cx="457200" cy="18288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29" name="Shape 27"/>
          <p:cNvSpPr/>
          <p:nvPr/>
        </p:nvSpPr>
        <p:spPr>
          <a:xfrm>
            <a:off x="2926080" y="2834640"/>
            <a:ext cx="457200" cy="18288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30" name="Shape 28"/>
          <p:cNvSpPr/>
          <p:nvPr/>
        </p:nvSpPr>
        <p:spPr>
          <a:xfrm>
            <a:off x="3383280" y="2651760"/>
            <a:ext cx="457200" cy="18288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31" name="Shape 29"/>
          <p:cNvSpPr/>
          <p:nvPr/>
        </p:nvSpPr>
        <p:spPr>
          <a:xfrm>
            <a:off x="3840480" y="2651760"/>
            <a:ext cx="457200" cy="18288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32" name="Shape 30"/>
          <p:cNvSpPr/>
          <p:nvPr/>
        </p:nvSpPr>
        <p:spPr>
          <a:xfrm>
            <a:off x="4297680" y="2560320"/>
            <a:ext cx="457200" cy="18288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33" name="Shape 31"/>
          <p:cNvSpPr/>
          <p:nvPr/>
        </p:nvSpPr>
        <p:spPr>
          <a:xfrm>
            <a:off x="4754880" y="2560320"/>
            <a:ext cx="457200" cy="18288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34" name="Shape 32"/>
          <p:cNvSpPr/>
          <p:nvPr/>
        </p:nvSpPr>
        <p:spPr>
          <a:xfrm>
            <a:off x="603504" y="3529584"/>
            <a:ext cx="73152" cy="73152"/>
          </a:xfrm>
          <a:prstGeom prst="ellipse">
            <a:avLst/>
          </a:prstGeom>
          <a:solidFill>
            <a:srgbClr val="3B7EF7"/>
          </a:solidFill>
          <a:ln/>
        </p:spPr>
      </p:sp>
      <p:sp>
        <p:nvSpPr>
          <p:cNvPr id="35" name="Shape 33"/>
          <p:cNvSpPr/>
          <p:nvPr/>
        </p:nvSpPr>
        <p:spPr>
          <a:xfrm>
            <a:off x="1060704" y="3255264"/>
            <a:ext cx="73152" cy="73152"/>
          </a:xfrm>
          <a:prstGeom prst="ellipse">
            <a:avLst/>
          </a:prstGeom>
          <a:solidFill>
            <a:srgbClr val="3B7EF7"/>
          </a:solidFill>
          <a:ln/>
        </p:spPr>
      </p:sp>
      <p:sp>
        <p:nvSpPr>
          <p:cNvPr id="36" name="Shape 34"/>
          <p:cNvSpPr/>
          <p:nvPr/>
        </p:nvSpPr>
        <p:spPr>
          <a:xfrm>
            <a:off x="1517904" y="3346704"/>
            <a:ext cx="73152" cy="73152"/>
          </a:xfrm>
          <a:prstGeom prst="ellipse">
            <a:avLst/>
          </a:prstGeom>
          <a:solidFill>
            <a:srgbClr val="3B7EF7"/>
          </a:solidFill>
          <a:ln/>
        </p:spPr>
      </p:sp>
      <p:sp>
        <p:nvSpPr>
          <p:cNvPr id="37" name="Shape 35"/>
          <p:cNvSpPr/>
          <p:nvPr/>
        </p:nvSpPr>
        <p:spPr>
          <a:xfrm>
            <a:off x="1975104" y="2980944"/>
            <a:ext cx="73152" cy="73152"/>
          </a:xfrm>
          <a:prstGeom prst="ellipse">
            <a:avLst/>
          </a:prstGeom>
          <a:solidFill>
            <a:srgbClr val="3B7EF7"/>
          </a:solidFill>
          <a:ln/>
        </p:spPr>
      </p:sp>
      <p:sp>
        <p:nvSpPr>
          <p:cNvPr id="38" name="Shape 36"/>
          <p:cNvSpPr/>
          <p:nvPr/>
        </p:nvSpPr>
        <p:spPr>
          <a:xfrm>
            <a:off x="2432304" y="3072384"/>
            <a:ext cx="73152" cy="73152"/>
          </a:xfrm>
          <a:prstGeom prst="ellipse">
            <a:avLst/>
          </a:prstGeom>
          <a:solidFill>
            <a:srgbClr val="3B7EF7"/>
          </a:solidFill>
          <a:ln/>
        </p:spPr>
      </p:sp>
      <p:sp>
        <p:nvSpPr>
          <p:cNvPr id="39" name="Shape 37"/>
          <p:cNvSpPr/>
          <p:nvPr/>
        </p:nvSpPr>
        <p:spPr>
          <a:xfrm>
            <a:off x="2889504" y="2798064"/>
            <a:ext cx="73152" cy="73152"/>
          </a:xfrm>
          <a:prstGeom prst="ellipse">
            <a:avLst/>
          </a:prstGeom>
          <a:solidFill>
            <a:srgbClr val="3B7EF7"/>
          </a:solidFill>
          <a:ln/>
        </p:spPr>
      </p:sp>
      <p:sp>
        <p:nvSpPr>
          <p:cNvPr id="40" name="Shape 38"/>
          <p:cNvSpPr/>
          <p:nvPr/>
        </p:nvSpPr>
        <p:spPr>
          <a:xfrm>
            <a:off x="3346704" y="2980944"/>
            <a:ext cx="73152" cy="73152"/>
          </a:xfrm>
          <a:prstGeom prst="ellipse">
            <a:avLst/>
          </a:prstGeom>
          <a:solidFill>
            <a:srgbClr val="3B7EF7"/>
          </a:solidFill>
          <a:ln/>
        </p:spPr>
      </p:sp>
      <p:sp>
        <p:nvSpPr>
          <p:cNvPr id="41" name="Shape 39"/>
          <p:cNvSpPr/>
          <p:nvPr/>
        </p:nvSpPr>
        <p:spPr>
          <a:xfrm>
            <a:off x="3803904" y="2615184"/>
            <a:ext cx="73152" cy="73152"/>
          </a:xfrm>
          <a:prstGeom prst="ellipse">
            <a:avLst/>
          </a:prstGeom>
          <a:solidFill>
            <a:srgbClr val="3B7EF7"/>
          </a:solidFill>
          <a:ln/>
        </p:spPr>
      </p:sp>
      <p:sp>
        <p:nvSpPr>
          <p:cNvPr id="42" name="Shape 40"/>
          <p:cNvSpPr/>
          <p:nvPr/>
        </p:nvSpPr>
        <p:spPr>
          <a:xfrm>
            <a:off x="4261104" y="2706624"/>
            <a:ext cx="73152" cy="73152"/>
          </a:xfrm>
          <a:prstGeom prst="ellipse">
            <a:avLst/>
          </a:prstGeom>
          <a:solidFill>
            <a:srgbClr val="3B7EF7"/>
          </a:solidFill>
          <a:ln/>
        </p:spPr>
      </p:sp>
      <p:sp>
        <p:nvSpPr>
          <p:cNvPr id="43" name="Shape 41"/>
          <p:cNvSpPr/>
          <p:nvPr/>
        </p:nvSpPr>
        <p:spPr>
          <a:xfrm>
            <a:off x="4718304" y="2523744"/>
            <a:ext cx="73152" cy="73152"/>
          </a:xfrm>
          <a:prstGeom prst="ellipse">
            <a:avLst/>
          </a:prstGeom>
          <a:solidFill>
            <a:srgbClr val="3B7EF7"/>
          </a:solidFill>
          <a:ln/>
        </p:spPr>
      </p:sp>
      <p:sp>
        <p:nvSpPr>
          <p:cNvPr id="44" name="Shape 42"/>
          <p:cNvSpPr/>
          <p:nvPr/>
        </p:nvSpPr>
        <p:spPr>
          <a:xfrm>
            <a:off x="5175504" y="2798064"/>
            <a:ext cx="73152" cy="73152"/>
          </a:xfrm>
          <a:prstGeom prst="ellipse">
            <a:avLst/>
          </a:prstGeom>
          <a:solidFill>
            <a:srgbClr val="3B7EF7"/>
          </a:solidFill>
          <a:ln/>
        </p:spPr>
      </p:sp>
      <p:sp>
        <p:nvSpPr>
          <p:cNvPr id="45" name="Shape 43"/>
          <p:cNvSpPr/>
          <p:nvPr/>
        </p:nvSpPr>
        <p:spPr>
          <a:xfrm>
            <a:off x="5760720" y="1920240"/>
            <a:ext cx="3108960" cy="228600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943600" y="2011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Tecnici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94360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Jacopo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858000" y="2432304"/>
            <a:ext cx="1613002" cy="137160"/>
          </a:xfrm>
          <a:prstGeom prst="rect">
            <a:avLst/>
          </a:prstGeom>
          <a:solidFill>
            <a:srgbClr val="34D058"/>
          </a:solidFill>
          <a:ln/>
        </p:spPr>
      </p:sp>
      <p:sp>
        <p:nvSpPr>
          <p:cNvPr id="49" name="Text 47"/>
          <p:cNvSpPr/>
          <p:nvPr/>
        </p:nvSpPr>
        <p:spPr>
          <a:xfrm>
            <a:off x="8516722" y="2377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4D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943600" y="27249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858000" y="2779776"/>
            <a:ext cx="1563624" cy="137160"/>
          </a:xfrm>
          <a:prstGeom prst="rect">
            <a:avLst/>
          </a:prstGeom>
          <a:solidFill>
            <a:srgbClr val="34D058"/>
          </a:solidFill>
          <a:ln/>
        </p:spPr>
      </p:sp>
      <p:sp>
        <p:nvSpPr>
          <p:cNvPr id="52" name="Text 50"/>
          <p:cNvSpPr/>
          <p:nvPr/>
        </p:nvSpPr>
        <p:spPr>
          <a:xfrm>
            <a:off x="8467344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4D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943600" y="30723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Giovanni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858000" y="3127248"/>
            <a:ext cx="1514246" cy="137160"/>
          </a:xfrm>
          <a:prstGeom prst="rect">
            <a:avLst/>
          </a:prstGeom>
          <a:solidFill>
            <a:srgbClr val="34D058"/>
          </a:solidFill>
          <a:ln/>
        </p:spPr>
      </p:sp>
      <p:sp>
        <p:nvSpPr>
          <p:cNvPr id="55" name="Text 53"/>
          <p:cNvSpPr/>
          <p:nvPr/>
        </p:nvSpPr>
        <p:spPr>
          <a:xfrm>
            <a:off x="8417966" y="3072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4D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943600" y="34198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Fabio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858000" y="3474720"/>
            <a:ext cx="1448410" cy="137160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58" name="Text 56"/>
          <p:cNvSpPr/>
          <p:nvPr/>
        </p:nvSpPr>
        <p:spPr>
          <a:xfrm>
            <a:off x="8352130" y="34198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7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943600" y="3767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Giuseppe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858000" y="3822192"/>
            <a:ext cx="1399032" cy="137160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61" name="Text 59"/>
          <p:cNvSpPr/>
          <p:nvPr/>
        </p:nvSpPr>
        <p:spPr>
          <a:xfrm>
            <a:off x="8302752" y="3767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7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74320" y="4389120"/>
            <a:ext cx="8595360" cy="41148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274320" y="4389120"/>
            <a:ext cx="54864" cy="411480"/>
          </a:xfrm>
          <a:prstGeom prst="rect">
            <a:avLst/>
          </a:prstGeom>
          <a:solidFill>
            <a:srgbClr val="34D058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" y="44074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ESERCIZIO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Navigare nella sezione KPI, identificare il tecnico con SLA compliance più basso, analizzare le cause.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3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Mappa, Config &amp; Notifiche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697480" cy="256032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697480" cy="36576"/>
          </a:xfrm>
          <a:prstGeom prst="rect">
            <a:avLst/>
          </a:prstGeom>
          <a:solidFill>
            <a:srgbClr val="34D05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60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Mappa Interattiva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Leaflet.js con tutti i clienti geolocalizzati.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colorati per stato urgenze.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su pin → dettaglio cliente.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2743200"/>
            <a:ext cx="2423160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834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4D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70+ città Emilia Romagna pre-geocodificate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154680" y="822960"/>
            <a:ext cx="2697480" cy="256032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822960"/>
            <a:ext cx="2697480" cy="36576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960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Configurazione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325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config: tempi target per priorità.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Notifiche: canali attivi per evento.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White-label: colori, logo, brand name.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Utenti: crea/modifica/disabilita.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91840" y="2743200"/>
            <a:ext cx="2423160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2834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B7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Tutte le config sono per-tenant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035040" y="822960"/>
            <a:ext cx="2697480" cy="256032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822960"/>
            <a:ext cx="2697480" cy="36576"/>
          </a:xfrm>
          <a:prstGeom prst="rect">
            <a:avLst/>
          </a:prstGeom>
          <a:solidFill>
            <a:srgbClr val="8854D0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960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Notifiche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1325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canali: Push, Email, Telegram.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evento ha la sua regola.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Anti-duplicato per notification ID.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engine ogni 15 minuti.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72200" y="2743200"/>
            <a:ext cx="2423160" cy="2743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2834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5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automatica dopo 4h inattività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4320" y="36576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7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SESSIONE TECNICO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3977640"/>
            <a:ext cx="8595360" cy="27432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1148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prossime slide sono dedicate ai tecnici sul campo — App Mobile PWA e Telegram Bot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7E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 Mobile — Installazione PWA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1A1A1A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60120"/>
            <a:ext cx="1920240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60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1920240" cy="2697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3931920"/>
            <a:ext cx="640080" cy="36576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143000"/>
            <a:ext cx="1920240" cy="18288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143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/ Safari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94360" y="14173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index_v2.html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148840" y="14173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18745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 nel browser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l'URL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dell'app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34440" y="4206240"/>
            <a:ext cx="320040" cy="320040"/>
          </a:xfrm>
          <a:prstGeom prst="ellipse">
            <a:avLst/>
          </a:prstGeom>
          <a:solidFill>
            <a:srgbClr val="3B7EF7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206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4206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 URL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83280" y="91440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1A1A1A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29000" y="960120"/>
            <a:ext cx="1920240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960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429000" y="1143000"/>
            <a:ext cx="1920240" cy="2697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069080" y="3931920"/>
            <a:ext cx="640080" cy="36576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/>
        </p:spPr>
      </p:sp>
      <p:sp>
        <p:nvSpPr>
          <p:cNvPr id="23" name="Shape 21"/>
          <p:cNvSpPr/>
          <p:nvPr/>
        </p:nvSpPr>
        <p:spPr>
          <a:xfrm>
            <a:off x="3611880" y="1600200"/>
            <a:ext cx="1554480" cy="137160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4" name="Text 22"/>
          <p:cNvSpPr/>
          <p:nvPr/>
        </p:nvSpPr>
        <p:spPr>
          <a:xfrm>
            <a:off x="3703320" y="1691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Aggiungi a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Schermata Home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94760" y="224028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3B7EF7"/>
          </a:solidFill>
          <a:ln/>
        </p:spPr>
      </p:sp>
      <p:sp>
        <p:nvSpPr>
          <p:cNvPr id="26" name="Text 24"/>
          <p:cNvSpPr/>
          <p:nvPr/>
        </p:nvSpPr>
        <p:spPr>
          <a:xfrm>
            <a:off x="3794760" y="2240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Aggiungi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60520" y="4206240"/>
            <a:ext cx="320040" cy="320040"/>
          </a:xfrm>
          <a:prstGeom prst="ellipse">
            <a:avLst/>
          </a:prstGeom>
          <a:solidFill>
            <a:srgbClr val="3B7EF7"/>
          </a:solidFill>
          <a:ln/>
        </p:spPr>
      </p:sp>
      <p:sp>
        <p:nvSpPr>
          <p:cNvPr id="28" name="Text 26"/>
          <p:cNvSpPr/>
          <p:nvPr/>
        </p:nvSpPr>
        <p:spPr>
          <a:xfrm>
            <a:off x="4160520" y="4206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1772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 PWA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09360" y="914400"/>
            <a:ext cx="2011680" cy="3200400"/>
          </a:xfrm>
          <a:prstGeom prst="roundRect">
            <a:avLst>
              <a:gd name="adj" fmla="val 6818"/>
            </a:avLst>
          </a:prstGeom>
          <a:solidFill>
            <a:srgbClr val="1A1A1A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960120"/>
            <a:ext cx="1920240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960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355080" y="1143000"/>
            <a:ext cx="1920240" cy="2697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6995160" y="3931920"/>
            <a:ext cx="640080" cy="36576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/>
        </p:spPr>
      </p:sp>
      <p:sp>
        <p:nvSpPr>
          <p:cNvPr id="35" name="Shape 33"/>
          <p:cNvSpPr/>
          <p:nvPr/>
        </p:nvSpPr>
        <p:spPr>
          <a:xfrm>
            <a:off x="6355080" y="1143000"/>
            <a:ext cx="1920240" cy="228600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1143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SYNTONIQA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355080" y="3566160"/>
            <a:ext cx="1920240" cy="27432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3566160"/>
            <a:ext cx="4800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C30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550" dirty="0"/>
          </a:p>
        </p:txBody>
      </p:sp>
      <p:sp>
        <p:nvSpPr>
          <p:cNvPr id="39" name="Text 37"/>
          <p:cNvSpPr/>
          <p:nvPr/>
        </p:nvSpPr>
        <p:spPr>
          <a:xfrm>
            <a:off x="6835140" y="3566160"/>
            <a:ext cx="4800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Urgenze</a:t>
            </a:r>
            <a:endParaRPr lang="en-US" sz="550" dirty="0"/>
          </a:p>
        </p:txBody>
      </p:sp>
      <p:sp>
        <p:nvSpPr>
          <p:cNvPr id="40" name="Text 38"/>
          <p:cNvSpPr/>
          <p:nvPr/>
        </p:nvSpPr>
        <p:spPr>
          <a:xfrm>
            <a:off x="7315200" y="3566160"/>
            <a:ext cx="4800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Piano</a:t>
            </a:r>
            <a:endParaRPr lang="en-US" sz="550" dirty="0"/>
          </a:p>
        </p:txBody>
      </p:sp>
      <p:sp>
        <p:nvSpPr>
          <p:cNvPr id="41" name="Text 39"/>
          <p:cNvSpPr/>
          <p:nvPr/>
        </p:nvSpPr>
        <p:spPr>
          <a:xfrm>
            <a:off x="7795260" y="3566160"/>
            <a:ext cx="4800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6446520" y="15087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Benvenuto, Jacopo!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446520" y="1783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urgenze aperte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interventi oggi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086600" y="4206240"/>
            <a:ext cx="320040" cy="320040"/>
          </a:xfrm>
          <a:prstGeom prst="ellipse">
            <a:avLst/>
          </a:prstGeom>
          <a:solidFill>
            <a:srgbClr val="3B7EF7"/>
          </a:solidFill>
          <a:ln/>
        </p:spPr>
      </p:sp>
      <p:sp>
        <p:nvSpPr>
          <p:cNvPr id="45" name="Text 43"/>
          <p:cNvSpPr/>
          <p:nvPr/>
        </p:nvSpPr>
        <p:spPr>
          <a:xfrm>
            <a:off x="7086600" y="4206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543800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Pronta!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8" name="Shape 46"/>
          <p:cNvSpPr/>
          <p:nvPr/>
        </p:nvSpPr>
        <p:spPr>
          <a:xfrm>
            <a:off x="274320" y="4572000"/>
            <a:ext cx="54864" cy="274320"/>
          </a:xfrm>
          <a:prstGeom prst="rect">
            <a:avLst/>
          </a:prstGeom>
          <a:solidFill>
            <a:srgbClr val="34D058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ESERCIZIO: Installare la PWA sul proprio smartphone. Effettuare il login e verificare la home.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7E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 Mobile — Navigazione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560320" cy="3840480"/>
          </a:xfrm>
          <a:prstGeom prst="roundRect">
            <a:avLst>
              <a:gd name="adj" fmla="val 5357"/>
            </a:avLst>
          </a:prstGeom>
          <a:solidFill>
            <a:srgbClr val="1A1A1A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868680"/>
            <a:ext cx="2468880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686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02920" y="1051560"/>
            <a:ext cx="2468880" cy="3337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417320" y="4480560"/>
            <a:ext cx="640080" cy="36576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051560"/>
            <a:ext cx="2468880" cy="274320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051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SYNTONIQA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0352" y="1417320"/>
            <a:ext cx="768096" cy="5029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1435608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3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" y="1709928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Urgenze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1353312" y="1417320"/>
            <a:ext cx="768096" cy="5029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6" name="Text 14"/>
          <p:cNvSpPr/>
          <p:nvPr/>
        </p:nvSpPr>
        <p:spPr>
          <a:xfrm>
            <a:off x="1353312" y="1435608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7E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53312" y="1709928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 Oggi</a:t>
            </a:r>
            <a:endParaRPr lang="en-US" sz="550" dirty="0"/>
          </a:p>
        </p:txBody>
      </p:sp>
      <p:sp>
        <p:nvSpPr>
          <p:cNvPr id="18" name="Shape 16"/>
          <p:cNvSpPr/>
          <p:nvPr/>
        </p:nvSpPr>
        <p:spPr>
          <a:xfrm>
            <a:off x="2176272" y="1417320"/>
            <a:ext cx="768096" cy="5029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9" name="Text 17"/>
          <p:cNvSpPr/>
          <p:nvPr/>
        </p:nvSpPr>
        <p:spPr>
          <a:xfrm>
            <a:off x="2176272" y="1435608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176272" y="1709928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Ordini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594360" y="20574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Urgenze Aperte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" y="2286000"/>
            <a:ext cx="237744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2286000"/>
            <a:ext cx="27432" cy="274320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URG_042 · Az. Rossi · Robot A5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548640" y="2606040"/>
            <a:ext cx="237744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2606040"/>
            <a:ext cx="27432" cy="274320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URG_041 · Coop Verdi · Sensore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548640" y="2926080"/>
            <a:ext cx="237744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2926080"/>
            <a:ext cx="27432" cy="274320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URG_040 · Latteria B. · PM Q1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502920" y="4069080"/>
            <a:ext cx="2468880" cy="32004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069080"/>
            <a:ext cx="493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C30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Home</a:t>
            </a:r>
            <a:endParaRPr lang="en-US" sz="450" dirty="0"/>
          </a:p>
        </p:txBody>
      </p:sp>
      <p:sp>
        <p:nvSpPr>
          <p:cNvPr id="33" name="Text 31"/>
          <p:cNvSpPr/>
          <p:nvPr/>
        </p:nvSpPr>
        <p:spPr>
          <a:xfrm>
            <a:off x="996696" y="4069080"/>
            <a:ext cx="493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Urgenze</a:t>
            </a:r>
            <a:endParaRPr lang="en-US" sz="450" dirty="0"/>
          </a:p>
        </p:txBody>
      </p:sp>
      <p:sp>
        <p:nvSpPr>
          <p:cNvPr id="34" name="Text 32"/>
          <p:cNvSpPr/>
          <p:nvPr/>
        </p:nvSpPr>
        <p:spPr>
          <a:xfrm>
            <a:off x="1490472" y="4069080"/>
            <a:ext cx="493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Piano</a:t>
            </a:r>
            <a:endParaRPr lang="en-US" sz="450" dirty="0"/>
          </a:p>
        </p:txBody>
      </p:sp>
      <p:sp>
        <p:nvSpPr>
          <p:cNvPr id="35" name="Text 33"/>
          <p:cNvSpPr/>
          <p:nvPr/>
        </p:nvSpPr>
        <p:spPr>
          <a:xfrm>
            <a:off x="1984248" y="4069080"/>
            <a:ext cx="493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Chat</a:t>
            </a:r>
            <a:endParaRPr lang="en-US" sz="450" dirty="0"/>
          </a:p>
        </p:txBody>
      </p:sp>
      <p:sp>
        <p:nvSpPr>
          <p:cNvPr id="36" name="Text 34"/>
          <p:cNvSpPr/>
          <p:nvPr/>
        </p:nvSpPr>
        <p:spPr>
          <a:xfrm>
            <a:off x="2478024" y="4069080"/>
            <a:ext cx="493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Profilo</a:t>
            </a:r>
            <a:endParaRPr lang="en-US" sz="450" dirty="0"/>
          </a:p>
        </p:txBody>
      </p:sp>
      <p:sp>
        <p:nvSpPr>
          <p:cNvPr id="37" name="Text 35"/>
          <p:cNvSpPr/>
          <p:nvPr/>
        </p:nvSpPr>
        <p:spPr>
          <a:xfrm>
            <a:off x="3657600" y="822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Pagine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657600" y="1280160"/>
            <a:ext cx="5212080" cy="33832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9" name="Text 37"/>
          <p:cNvSpPr/>
          <p:nvPr/>
        </p:nvSpPr>
        <p:spPr>
          <a:xfrm>
            <a:off x="3749040" y="1280160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0" y="1280160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03520" y="1280160"/>
            <a:ext cx="3474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Riepilogo urgenze, interventi, ordini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0" y="1664208"/>
            <a:ext cx="5212080" cy="3383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3" name="Text 41"/>
          <p:cNvSpPr/>
          <p:nvPr/>
        </p:nvSpPr>
        <p:spPr>
          <a:xfrm>
            <a:off x="3749040" y="1664208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114800" y="1664208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Urgenze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03520" y="1664208"/>
            <a:ext cx="3474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urgenze assegnate, prendere/iniziare/risolvere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0" y="2048256"/>
            <a:ext cx="5212080" cy="33832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7" name="Text 45"/>
          <p:cNvSpPr/>
          <p:nvPr/>
        </p:nvSpPr>
        <p:spPr>
          <a:xfrm>
            <a:off x="3749040" y="2048256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114800" y="2048256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303520" y="2048256"/>
            <a:ext cx="3474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 pianificati, calendario, dettaglio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657600" y="2432304"/>
            <a:ext cx="5212080" cy="3383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1" name="Text 49"/>
          <p:cNvSpPr/>
          <p:nvPr/>
        </p:nvSpPr>
        <p:spPr>
          <a:xfrm>
            <a:off x="3749040" y="2432304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114800" y="2432304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Ordini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03520" y="2432304"/>
            <a:ext cx="3474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ordini, stato, nuovo ordine rapido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657600" y="2816352"/>
            <a:ext cx="5212080" cy="33832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55" name="Text 53"/>
          <p:cNvSpPr/>
          <p:nvPr/>
        </p:nvSpPr>
        <p:spPr>
          <a:xfrm>
            <a:off x="3749040" y="2816352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114800" y="2816352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03520" y="2816352"/>
            <a:ext cx="3474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Messaggistica team + canali per urgenza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657600" y="3200400"/>
            <a:ext cx="5212080" cy="3383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9" name="Text 57"/>
          <p:cNvSpPr/>
          <p:nvPr/>
        </p:nvSpPr>
        <p:spPr>
          <a:xfrm>
            <a:off x="3749040" y="3200400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114800" y="3200400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Mappa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303520" y="3200400"/>
            <a:ext cx="3474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Clienti geolocalizzati, navigazione GPS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657600" y="3584448"/>
            <a:ext cx="5212080" cy="338328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63" name="Text 61"/>
          <p:cNvSpPr/>
          <p:nvPr/>
        </p:nvSpPr>
        <p:spPr>
          <a:xfrm>
            <a:off x="3749040" y="3584448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114800" y="3584448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Notifiche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303520" y="3584448"/>
            <a:ext cx="3474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notifiche con badge non-lette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657600" y="3968496"/>
            <a:ext cx="5212080" cy="3383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7" name="Text 65"/>
          <p:cNvSpPr/>
          <p:nvPr/>
        </p:nvSpPr>
        <p:spPr>
          <a:xfrm>
            <a:off x="3749040" y="3968496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114800" y="3968496"/>
            <a:ext cx="1097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Profilo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303520" y="3968496"/>
            <a:ext cx="3474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personali, furgone, cambio password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657600" y="4434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nav sempre visibile — accesso rapido alle 5 sezioni principali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7E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Workflow Urgenze — Mobile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828800" cy="2743200"/>
          </a:xfrm>
          <a:prstGeom prst="roundRect">
            <a:avLst>
              <a:gd name="adj" fmla="val 7500"/>
            </a:avLst>
          </a:prstGeom>
          <a:solidFill>
            <a:srgbClr val="1A1A1A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1737360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1737360" cy="2240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474720"/>
            <a:ext cx="640080" cy="36576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143000"/>
            <a:ext cx="1737360" cy="228600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Urgenze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1645920" cy="7315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490472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C30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URG_042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11480" y="1655064"/>
            <a:ext cx="1554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Az. Rossi · Robot A5 bloccato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411480" y="1892808"/>
            <a:ext cx="1554480" cy="201168"/>
          </a:xfrm>
          <a:prstGeom prst="roundRect">
            <a:avLst>
              <a:gd name="adj" fmla="val 18182"/>
            </a:avLst>
          </a:prstGeom>
          <a:solidFill>
            <a:srgbClr val="C30A14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189280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PRENDI IN CARICO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914400" y="3794760"/>
            <a:ext cx="320040" cy="320040"/>
          </a:xfrm>
          <a:prstGeom prst="ellipse">
            <a:avLst/>
          </a:prstGeom>
          <a:solidFill>
            <a:srgbClr val="C30A14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794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Prendi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914400"/>
            <a:ext cx="1828800" cy="2743200"/>
          </a:xfrm>
          <a:prstGeom prst="roundRect">
            <a:avLst>
              <a:gd name="adj" fmla="val 7500"/>
            </a:avLst>
          </a:prstGeom>
          <a:solidFill>
            <a:srgbClr val="1A1A1A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14600" y="960120"/>
            <a:ext cx="1737360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0" y="960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514600" y="1143000"/>
            <a:ext cx="1737360" cy="2240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3063240" y="3474720"/>
            <a:ext cx="640080" cy="36576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/>
        </p:spPr>
      </p:sp>
      <p:sp>
        <p:nvSpPr>
          <p:cNvPr id="25" name="Shape 23"/>
          <p:cNvSpPr/>
          <p:nvPr/>
        </p:nvSpPr>
        <p:spPr>
          <a:xfrm>
            <a:off x="2514600" y="1143000"/>
            <a:ext cx="1737360" cy="228600"/>
          </a:xfrm>
          <a:prstGeom prst="rect">
            <a:avLst/>
          </a:prstGeom>
          <a:solidFill>
            <a:srgbClr val="F7B731"/>
          </a:solidFill>
          <a:ln/>
        </p:spPr>
      </p:sp>
      <p:sp>
        <p:nvSpPr>
          <p:cNvPr id="26" name="Text 24"/>
          <p:cNvSpPr/>
          <p:nvPr/>
        </p:nvSpPr>
        <p:spPr>
          <a:xfrm>
            <a:off x="256032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URG_042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606040" y="146304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Az. Rossi — Parma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2606040" y="1737360"/>
            <a:ext cx="1554480" cy="201168"/>
          </a:xfrm>
          <a:prstGeom prst="roundRect">
            <a:avLst>
              <a:gd name="adj" fmla="val 18182"/>
            </a:avLst>
          </a:prstGeom>
          <a:solidFill>
            <a:srgbClr val="34D058"/>
          </a:solidFill>
          <a:ln/>
        </p:spPr>
      </p:sp>
      <p:sp>
        <p:nvSpPr>
          <p:cNvPr id="29" name="Text 27"/>
          <p:cNvSpPr/>
          <p:nvPr/>
        </p:nvSpPr>
        <p:spPr>
          <a:xfrm>
            <a:off x="2606040" y="17373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 →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606040" y="2011680"/>
            <a:ext cx="1554480" cy="201168"/>
          </a:xfrm>
          <a:prstGeom prst="roundRect">
            <a:avLst>
              <a:gd name="adj" fmla="val 18182"/>
            </a:avLst>
          </a:prstGeom>
          <a:solidFill>
            <a:srgbClr val="17C0EB"/>
          </a:solidFill>
          <a:ln/>
        </p:spPr>
      </p:sp>
      <p:sp>
        <p:nvSpPr>
          <p:cNvPr id="31" name="Text 29"/>
          <p:cNvSpPr/>
          <p:nvPr/>
        </p:nvSpPr>
        <p:spPr>
          <a:xfrm>
            <a:off x="2606040" y="201168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INIZIA LAVORO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3108960" y="3794760"/>
            <a:ext cx="320040" cy="320040"/>
          </a:xfrm>
          <a:prstGeom prst="ellipse">
            <a:avLst/>
          </a:prstGeom>
          <a:solidFill>
            <a:srgbClr val="F7B731"/>
          </a:solidFill>
          <a:ln/>
        </p:spPr>
      </p:sp>
      <p:sp>
        <p:nvSpPr>
          <p:cNvPr id="33" name="Text 31"/>
          <p:cNvSpPr/>
          <p:nvPr/>
        </p:nvSpPr>
        <p:spPr>
          <a:xfrm>
            <a:off x="310896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520440" y="3794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914400"/>
            <a:ext cx="1828800" cy="2743200"/>
          </a:xfrm>
          <a:prstGeom prst="roundRect">
            <a:avLst>
              <a:gd name="adj" fmla="val 7500"/>
            </a:avLst>
          </a:prstGeom>
          <a:solidFill>
            <a:srgbClr val="1A1A1A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960120"/>
            <a:ext cx="1737360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960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709160" y="1143000"/>
            <a:ext cx="1737360" cy="2240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5257800" y="3474720"/>
            <a:ext cx="640080" cy="36576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/>
        </p:spPr>
      </p:sp>
      <p:sp>
        <p:nvSpPr>
          <p:cNvPr id="40" name="Shape 38"/>
          <p:cNvSpPr/>
          <p:nvPr/>
        </p:nvSpPr>
        <p:spPr>
          <a:xfrm>
            <a:off x="4709160" y="1143000"/>
            <a:ext cx="1737360" cy="228600"/>
          </a:xfrm>
          <a:prstGeom prst="rect">
            <a:avLst/>
          </a:prstGeom>
          <a:solidFill>
            <a:srgbClr val="17C0EB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CORSO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800600" y="14630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1h 23min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00600" y="1691640"/>
            <a:ext cx="1554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attivo</a:t>
            </a:r>
            <a:endParaRPr lang="en-US" sz="550" dirty="0"/>
          </a:p>
        </p:txBody>
      </p:sp>
      <p:sp>
        <p:nvSpPr>
          <p:cNvPr id="44" name="Shape 42"/>
          <p:cNvSpPr/>
          <p:nvPr/>
        </p:nvSpPr>
        <p:spPr>
          <a:xfrm>
            <a:off x="4800600" y="1965960"/>
            <a:ext cx="1554480" cy="201168"/>
          </a:xfrm>
          <a:prstGeom prst="roundRect">
            <a:avLst>
              <a:gd name="adj" fmla="val 18182"/>
            </a:avLst>
          </a:prstGeom>
          <a:solidFill>
            <a:srgbClr val="34D058"/>
          </a:solidFill>
          <a:ln/>
        </p:spPr>
      </p:sp>
      <p:sp>
        <p:nvSpPr>
          <p:cNvPr id="45" name="Text 43"/>
          <p:cNvSpPr/>
          <p:nvPr/>
        </p:nvSpPr>
        <p:spPr>
          <a:xfrm>
            <a:off x="4800600" y="19659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SEGNA RISOLTO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5303520" y="3794760"/>
            <a:ext cx="320040" cy="320040"/>
          </a:xfrm>
          <a:prstGeom prst="ellipse">
            <a:avLst/>
          </a:prstGeom>
          <a:solidFill>
            <a:srgbClr val="17C0EB"/>
          </a:solidFill>
          <a:ln/>
        </p:spPr>
      </p:sp>
      <p:sp>
        <p:nvSpPr>
          <p:cNvPr id="47" name="Text 45"/>
          <p:cNvSpPr/>
          <p:nvPr/>
        </p:nvSpPr>
        <p:spPr>
          <a:xfrm>
            <a:off x="530352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715000" y="3794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Lavora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58000" y="914400"/>
            <a:ext cx="1828800" cy="2743200"/>
          </a:xfrm>
          <a:prstGeom prst="roundRect">
            <a:avLst>
              <a:gd name="adj" fmla="val 7500"/>
            </a:avLst>
          </a:prstGeom>
          <a:solidFill>
            <a:srgbClr val="1A1A1A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903720" y="960120"/>
            <a:ext cx="1737360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1" name="Text 49"/>
          <p:cNvSpPr/>
          <p:nvPr/>
        </p:nvSpPr>
        <p:spPr>
          <a:xfrm>
            <a:off x="6949440" y="9601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903720" y="1143000"/>
            <a:ext cx="1737360" cy="2240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7452360" y="3474720"/>
            <a:ext cx="640080" cy="36576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/>
        </p:spPr>
      </p:sp>
      <p:sp>
        <p:nvSpPr>
          <p:cNvPr id="54" name="Shape 52"/>
          <p:cNvSpPr/>
          <p:nvPr/>
        </p:nvSpPr>
        <p:spPr>
          <a:xfrm>
            <a:off x="6903720" y="1143000"/>
            <a:ext cx="1737360" cy="228600"/>
          </a:xfrm>
          <a:prstGeom prst="rect">
            <a:avLst/>
          </a:prstGeom>
          <a:solidFill>
            <a:srgbClr val="34D058"/>
          </a:solidFill>
          <a:ln/>
        </p:spPr>
      </p:sp>
      <p:sp>
        <p:nvSpPr>
          <p:cNvPr id="55" name="Text 53"/>
          <p:cNvSpPr/>
          <p:nvPr/>
        </p:nvSpPr>
        <p:spPr>
          <a:xfrm>
            <a:off x="694944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RISOLTA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995160" y="1463040"/>
            <a:ext cx="1554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risoluzione: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6995160" y="1645920"/>
            <a:ext cx="1554480" cy="3657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8" name="Text 56"/>
          <p:cNvSpPr/>
          <p:nvPr/>
        </p:nvSpPr>
        <p:spPr>
          <a:xfrm>
            <a:off x="7040880" y="16733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5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Sostituito sensore</a:t>
            </a:r>
            <a:endParaRPr lang="en-US" sz="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5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 + calibrazione</a:t>
            </a:r>
            <a:endParaRPr lang="en-US" sz="550" dirty="0"/>
          </a:p>
        </p:txBody>
      </p:sp>
      <p:sp>
        <p:nvSpPr>
          <p:cNvPr id="59" name="Text 57"/>
          <p:cNvSpPr/>
          <p:nvPr/>
        </p:nvSpPr>
        <p:spPr>
          <a:xfrm>
            <a:off x="6995160" y="210312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Urgenza chiusa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498080" y="3794760"/>
            <a:ext cx="320040" cy="320040"/>
          </a:xfrm>
          <a:prstGeom prst="ellipse">
            <a:avLst/>
          </a:prstGeom>
          <a:solidFill>
            <a:srgbClr val="34D058"/>
          </a:solidFill>
          <a:ln/>
        </p:spPr>
      </p:sp>
      <p:sp>
        <p:nvSpPr>
          <p:cNvPr id="61" name="Text 59"/>
          <p:cNvSpPr/>
          <p:nvPr/>
        </p:nvSpPr>
        <p:spPr>
          <a:xfrm>
            <a:off x="749808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7909560" y="3794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Chiudi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74320" y="4297680"/>
            <a:ext cx="8595360" cy="50292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74320" y="4297680"/>
            <a:ext cx="54864" cy="502920"/>
          </a:xfrm>
          <a:prstGeom prst="rect">
            <a:avLst/>
          </a:prstGeom>
          <a:solidFill>
            <a:srgbClr val="34D058"/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" y="43159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ESERCIZIO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57200" y="44988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Completare il ciclo urgenza completo dall'app: prendere in carico → navigare al cliente → iniziare lavoro → segnare risolto con note.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7E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Telegram Bot — Comandi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572000" cy="3200400"/>
          </a:xfrm>
          <a:prstGeom prst="rect">
            <a:avLst/>
          </a:prstGeom>
          <a:solidFill>
            <a:srgbClr val="0E1621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572000" cy="32004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50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Syntoniqa Bot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234440"/>
            <a:ext cx="2011680" cy="228600"/>
          </a:xfrm>
          <a:prstGeom prst="rect">
            <a:avLst/>
          </a:prstGeom>
          <a:solidFill>
            <a:srgbClr val="2B5278"/>
          </a:solidFill>
          <a:ln/>
        </p:spPr>
      </p:sp>
      <p:sp>
        <p:nvSpPr>
          <p:cNvPr id="9" name="Text 7"/>
          <p:cNvSpPr/>
          <p:nvPr/>
        </p:nvSpPr>
        <p:spPr>
          <a:xfrm>
            <a:off x="2724912" y="1252728"/>
            <a:ext cx="18653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/oggi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65760" y="1508760"/>
            <a:ext cx="3657600" cy="50292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1527048"/>
            <a:ext cx="35112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Interventi di oggi: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INT_089 · Az. Rossi · PM Trimestrale · 09:00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INT_090 · Coop Verdi · Sostituzione sensore · 14:00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651760" y="2331720"/>
            <a:ext cx="2011680" cy="228600"/>
          </a:xfrm>
          <a:prstGeom prst="rect">
            <a:avLst/>
          </a:prstGeom>
          <a:solidFill>
            <a:srgbClr val="2B5278"/>
          </a:solidFill>
          <a:ln/>
        </p:spPr>
      </p:sp>
      <p:sp>
        <p:nvSpPr>
          <p:cNvPr id="13" name="Text 11"/>
          <p:cNvSpPr/>
          <p:nvPr/>
        </p:nvSpPr>
        <p:spPr>
          <a:xfrm>
            <a:off x="2724912" y="2350008"/>
            <a:ext cx="18653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/vado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3657600" cy="50292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624328"/>
            <a:ext cx="35112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Urgenze aperte: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URG_042 · Az. Rossi · Robot A5 bloccato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URG_041 · Coop Verdi · Sensore guasto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651760" y="3246120"/>
            <a:ext cx="2011680" cy="228600"/>
          </a:xfrm>
          <a:prstGeom prst="rect">
            <a:avLst/>
          </a:prstGeom>
          <a:solidFill>
            <a:srgbClr val="2B5278"/>
          </a:solidFill>
          <a:ln/>
        </p:spPr>
      </p:sp>
      <p:sp>
        <p:nvSpPr>
          <p:cNvPr id="17" name="Text 15"/>
          <p:cNvSpPr/>
          <p:nvPr/>
        </p:nvSpPr>
        <p:spPr>
          <a:xfrm>
            <a:off x="2724912" y="3264408"/>
            <a:ext cx="18653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/vado 1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3657600" cy="36576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3493008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Hai preso URG_042.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Naviga: maps.google.com/...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12064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123444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30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/vado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75120" y="123444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urgenze, prendi con /vado 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20640" y="150876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/incorso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75120" y="150876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Segna urgenza in corso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20640" y="178308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0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/risolto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75120" y="178308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Chiudi urgenza con note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20640" y="205740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7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75120" y="205740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Stato urgenze attive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20640" y="233172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C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/oggi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75120" y="233172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Piano interventi di oggi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20640" y="260604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54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/settimana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75120" y="260604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Piano settimanale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20640" y="288036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/ordine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75120" y="288036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ordine: /ordine cod qt cli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20640" y="315468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0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Foto/testo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75120" y="315468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analizza e crea azione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120640" y="3520440"/>
            <a:ext cx="3749040" cy="50292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120640" y="3520440"/>
            <a:ext cx="3749040" cy="27432"/>
          </a:xfrm>
          <a:prstGeom prst="rect">
            <a:avLst/>
          </a:prstGeom>
          <a:solidFill>
            <a:srgbClr val="8854D0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0" y="35844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Vision: invia una foto del guasto → l'AI identifica il problema e suggerisce l'azione da intraprendere.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4206240"/>
            <a:ext cx="54864" cy="548640"/>
          </a:xfrm>
          <a:prstGeom prst="rect">
            <a:avLst/>
          </a:prstGeom>
          <a:solidFill>
            <a:srgbClr val="34D058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224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ESERCIZIO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Aprire Telegram, cercare @SyntoniqaBot, eseguire /oggi e /vado. Prendere un'urgenza e completare il ciclo fino a /risolto.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7E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 In-App &amp; Ordini Rapidi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286000" cy="32918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868680"/>
            <a:ext cx="2194560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686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02920" y="1051560"/>
            <a:ext cx="2194560" cy="2788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3931920"/>
            <a:ext cx="640080" cy="36576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051560"/>
            <a:ext cx="2194560" cy="228600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0515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Team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3B7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Jacopo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594360" y="1508760"/>
            <a:ext cx="201168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52704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 bisogno del sensore temp per il robot Rossi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594360" y="1828800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3B7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500" dirty="0"/>
          </a:p>
        </p:txBody>
      </p:sp>
      <p:sp>
        <p:nvSpPr>
          <p:cNvPr id="16" name="Shape 14"/>
          <p:cNvSpPr/>
          <p:nvPr/>
        </p:nvSpPr>
        <p:spPr>
          <a:xfrm>
            <a:off x="594360" y="1965960"/>
            <a:ext cx="201168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198424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Ordine creato ORD_078. Arrivo previsto domani.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594360" y="2240280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3B7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</a:t>
            </a:r>
            <a:endParaRPr lang="en-US" sz="500" dirty="0"/>
          </a:p>
        </p:txBody>
      </p:sp>
      <p:sp>
        <p:nvSpPr>
          <p:cNvPr id="19" name="Shape 17"/>
          <p:cNvSpPr/>
          <p:nvPr/>
        </p:nvSpPr>
        <p:spPr>
          <a:xfrm>
            <a:off x="594360" y="2377440"/>
            <a:ext cx="201168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39572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 sono a Parma, posso portarglielo stasera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502920" y="3566160"/>
            <a:ext cx="2194560" cy="27432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611880"/>
            <a:ext cx="1737360" cy="182880"/>
          </a:xfrm>
          <a:prstGeom prst="roundRect">
            <a:avLst>
              <a:gd name="adj" fmla="val 20000"/>
            </a:avLst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6118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Scrivi...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3291840" y="822960"/>
            <a:ext cx="2286000" cy="32918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9050">
            <a:solidFill>
              <a:srgbClr val="44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868680"/>
            <a:ext cx="2194560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8686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337560" y="1051560"/>
            <a:ext cx="2194560" cy="2788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0" y="3931920"/>
            <a:ext cx="640080" cy="36576"/>
          </a:xfrm>
          <a:prstGeom prst="roundRect">
            <a:avLst>
              <a:gd name="adj" fmla="val 50000"/>
            </a:avLst>
          </a:prstGeom>
          <a:solidFill>
            <a:srgbClr val="444444"/>
          </a:solidFill>
          <a:ln/>
        </p:spPr>
      </p:sp>
      <p:sp>
        <p:nvSpPr>
          <p:cNvPr id="29" name="Shape 27"/>
          <p:cNvSpPr/>
          <p:nvPr/>
        </p:nvSpPr>
        <p:spPr>
          <a:xfrm>
            <a:off x="3337560" y="1051560"/>
            <a:ext cx="2194560" cy="228600"/>
          </a:xfrm>
          <a:prstGeom prst="rect">
            <a:avLst/>
          </a:prstGeom>
          <a:solidFill>
            <a:srgbClr val="F7B731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10515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Ordini Ricambi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383280" y="1371600"/>
            <a:ext cx="2103120" cy="438912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2" name="Text 30"/>
          <p:cNvSpPr/>
          <p:nvPr/>
        </p:nvSpPr>
        <p:spPr>
          <a:xfrm>
            <a:off x="3429000" y="1399032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ORD_078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429000" y="153619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 temp.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4663440" y="1536192"/>
            <a:ext cx="731520" cy="155448"/>
          </a:xfrm>
          <a:prstGeom prst="roundRect">
            <a:avLst>
              <a:gd name="adj" fmla="val 17647"/>
            </a:avLst>
          </a:prstGeom>
          <a:solidFill>
            <a:srgbClr val="F7B731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1536192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arrivo</a:t>
            </a:r>
            <a:endParaRPr lang="en-US" sz="450" dirty="0"/>
          </a:p>
        </p:txBody>
      </p:sp>
      <p:sp>
        <p:nvSpPr>
          <p:cNvPr id="36" name="Shape 34"/>
          <p:cNvSpPr/>
          <p:nvPr/>
        </p:nvSpPr>
        <p:spPr>
          <a:xfrm>
            <a:off x="3383280" y="1874520"/>
            <a:ext cx="2103120" cy="438912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7" name="Text 35"/>
          <p:cNvSpPr/>
          <p:nvPr/>
        </p:nvSpPr>
        <p:spPr>
          <a:xfrm>
            <a:off x="3429000" y="1901952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ORD_077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3429000" y="203911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latte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4663440" y="2039112"/>
            <a:ext cx="731520" cy="155448"/>
          </a:xfrm>
          <a:prstGeom prst="roundRect">
            <a:avLst>
              <a:gd name="adj" fmla="val 17647"/>
            </a:avLst>
          </a:prstGeom>
          <a:solidFill>
            <a:srgbClr val="34D058"/>
          </a:solidFill>
          <a:ln/>
        </p:spPr>
      </p:sp>
      <p:sp>
        <p:nvSpPr>
          <p:cNvPr id="40" name="Text 38"/>
          <p:cNvSpPr/>
          <p:nvPr/>
        </p:nvSpPr>
        <p:spPr>
          <a:xfrm>
            <a:off x="4663440" y="2039112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Consegnato</a:t>
            </a:r>
            <a:endParaRPr lang="en-US" sz="450" dirty="0"/>
          </a:p>
        </p:txBody>
      </p:sp>
      <p:sp>
        <p:nvSpPr>
          <p:cNvPr id="41" name="Shape 39"/>
          <p:cNvSpPr/>
          <p:nvPr/>
        </p:nvSpPr>
        <p:spPr>
          <a:xfrm>
            <a:off x="3383280" y="2377440"/>
            <a:ext cx="2103120" cy="438912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2" name="Text 40"/>
          <p:cNvSpPr/>
          <p:nvPr/>
        </p:nvSpPr>
        <p:spPr>
          <a:xfrm>
            <a:off x="3429000" y="2404872"/>
            <a:ext cx="2011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ORD_076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3429000" y="2542032"/>
            <a:ext cx="15544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Guarnizione</a:t>
            </a:r>
            <a:endParaRPr lang="en-US" sz="550" dirty="0"/>
          </a:p>
        </p:txBody>
      </p:sp>
      <p:sp>
        <p:nvSpPr>
          <p:cNvPr id="44" name="Shape 42"/>
          <p:cNvSpPr/>
          <p:nvPr/>
        </p:nvSpPr>
        <p:spPr>
          <a:xfrm>
            <a:off x="4663440" y="2542032"/>
            <a:ext cx="731520" cy="155448"/>
          </a:xfrm>
          <a:prstGeom prst="roundRect">
            <a:avLst>
              <a:gd name="adj" fmla="val 17647"/>
            </a:avLst>
          </a:prstGeom>
          <a:solidFill>
            <a:srgbClr val="3B7EF7"/>
          </a:solidFill>
          <a:ln/>
        </p:spPr>
      </p:sp>
      <p:sp>
        <p:nvSpPr>
          <p:cNvPr id="45" name="Text 43"/>
          <p:cNvSpPr/>
          <p:nvPr/>
        </p:nvSpPr>
        <p:spPr>
          <a:xfrm>
            <a:off x="4663440" y="2542032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Richiesto</a:t>
            </a:r>
            <a:endParaRPr lang="en-US" sz="450" dirty="0"/>
          </a:p>
        </p:txBody>
      </p:sp>
      <p:sp>
        <p:nvSpPr>
          <p:cNvPr id="46" name="Shape 44"/>
          <p:cNvSpPr/>
          <p:nvPr/>
        </p:nvSpPr>
        <p:spPr>
          <a:xfrm>
            <a:off x="3611880" y="3063240"/>
            <a:ext cx="1645920" cy="228600"/>
          </a:xfrm>
          <a:prstGeom prst="roundRect">
            <a:avLst>
              <a:gd name="adj" fmla="val 16000"/>
            </a:avLst>
          </a:prstGeom>
          <a:solidFill>
            <a:srgbClr val="F7B731"/>
          </a:solidFill>
          <a:ln/>
        </p:spPr>
      </p:sp>
      <p:sp>
        <p:nvSpPr>
          <p:cNvPr id="47" name="Text 45"/>
          <p:cNvSpPr/>
          <p:nvPr/>
        </p:nvSpPr>
        <p:spPr>
          <a:xfrm>
            <a:off x="3611880" y="3063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Nuovo Ordine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943600" y="914400"/>
            <a:ext cx="2926080" cy="91440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943600" y="914400"/>
            <a:ext cx="45720" cy="914400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50" name="Text 48"/>
          <p:cNvSpPr/>
          <p:nvPr/>
        </p:nvSpPr>
        <p:spPr>
          <a:xfrm>
            <a:off x="6126480" y="9875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Real-time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126480" y="1234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Canali per team + canali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singola urgenza.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Storico completo salvato.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943600" y="2011680"/>
            <a:ext cx="2926080" cy="91440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943600" y="2011680"/>
            <a:ext cx="45720" cy="914400"/>
          </a:xfrm>
          <a:prstGeom prst="rect">
            <a:avLst/>
          </a:prstGeom>
          <a:solidFill>
            <a:srgbClr val="F7B731"/>
          </a:solidFill>
          <a:ln/>
        </p:spPr>
      </p:sp>
      <p:sp>
        <p:nvSpPr>
          <p:cNvPr id="54" name="Text 52"/>
          <p:cNvSpPr/>
          <p:nvPr/>
        </p:nvSpPr>
        <p:spPr>
          <a:xfrm>
            <a:off x="6126480" y="20848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Ordini da 3 canali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126480" y="2331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App mobile: pulsante + Nuovo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Telegram: /ordine cod qt cli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Admin dashboard: form completo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943600" y="3108960"/>
            <a:ext cx="2926080" cy="91440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943600" y="3108960"/>
            <a:ext cx="45720" cy="914400"/>
          </a:xfrm>
          <a:prstGeom prst="rect">
            <a:avLst/>
          </a:prstGeom>
          <a:solidFill>
            <a:srgbClr val="34D058"/>
          </a:solidFill>
          <a:ln/>
        </p:spPr>
      </p:sp>
      <p:sp>
        <p:nvSpPr>
          <p:cNvPr id="58" name="Text 56"/>
          <p:cNvSpPr/>
          <p:nvPr/>
        </p:nvSpPr>
        <p:spPr>
          <a:xfrm>
            <a:off x="6126480" y="31821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Notifiche Ordini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126480" y="3429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Stato aggiornato → notifica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tecnico richiedente.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 automatico &gt;7gg.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4297680"/>
            <a:ext cx="8595360" cy="45720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74320" y="4297680"/>
            <a:ext cx="54864" cy="457200"/>
          </a:xfrm>
          <a:prstGeom prst="rect">
            <a:avLst/>
          </a:prstGeom>
          <a:solidFill>
            <a:srgbClr val="34D058"/>
          </a:solidFill>
          <a:ln/>
        </p:spPr>
      </p:sp>
      <p:sp>
        <p:nvSpPr>
          <p:cNvPr id="62" name="Text 60"/>
          <p:cNvSpPr/>
          <p:nvPr/>
        </p:nvSpPr>
        <p:spPr>
          <a:xfrm>
            <a:off x="457200" y="43159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ESERCIZIO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57200" y="44988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Inviare un messaggio nella chat team. Creare un ordine ricambi dall'app mobile. Verificare la notifica.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Sicurezza — Cosa Sapere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18872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36576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personale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condividere mai la password.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Cambiarla ogni 90 giorni.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8 caratteri, lettere + numeri.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14800" cy="118872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4114800" cy="36576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 sicuro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1463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Usare il blocco schermo sul telefono.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lasciare l'app aperta incustodita.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Sessione scade dopo 24h automaticamente.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14800" cy="118872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68880"/>
            <a:ext cx="4114800" cy="36576"/>
          </a:xfrm>
          <a:prstGeom prst="rect">
            <a:avLst/>
          </a:prstGeom>
          <a:solidFill>
            <a:srgbClr val="34D058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2606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i tuoi dati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926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tecnico vede solo le proprie urgenze.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L'admin vede tutto ma con audit trail.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azione è registrata nel log.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2468880"/>
            <a:ext cx="4114800" cy="118872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468880"/>
            <a:ext cx="4114800" cy="36576"/>
          </a:xfrm>
          <a:prstGeom prst="rect">
            <a:avLst/>
          </a:prstGeom>
          <a:solidFill>
            <a:srgbClr val="F7B731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12080" y="2606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e dati sensibili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2926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foto inviate via Telegram vengono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analizzate dall'AI e archiviate.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inviare dati personali dei clienti.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" y="41605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azione su Syntoniqa è tracciata: chi, cosa, quando, da dove. Il sistema mantiene un audit trail completo.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05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Esercizi Pratici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Completare tutti gli esercizi in ordine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5486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54864" cy="548640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207008"/>
            <a:ext cx="320040" cy="320040"/>
          </a:xfrm>
          <a:prstGeom prst="ellipse">
            <a:avLst/>
          </a:prstGeom>
          <a:solidFill>
            <a:srgbClr val="C30A1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070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143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Urgenza Completo (Admin)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371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urgenza → Assegna a Jacopo → Verifica notifica TG → Jacopo prende → Jacopo risolve → Admin chiude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12070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0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737360"/>
            <a:ext cx="8595360" cy="5486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1737360"/>
            <a:ext cx="54864" cy="548640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1847088"/>
            <a:ext cx="320040" cy="320040"/>
          </a:xfrm>
          <a:prstGeom prst="ellipse">
            <a:avLst/>
          </a:prstGeom>
          <a:solidFill>
            <a:srgbClr val="C30A1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8470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1783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Pianificazione Settimanale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011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Creare 5 interventi per la prossima settimana, usare AI Planner, verificare assegnazione bilanciata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72400" y="18470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0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377440"/>
            <a:ext cx="8595360" cy="5486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2377440"/>
            <a:ext cx="54864" cy="548640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2487168"/>
            <a:ext cx="320040" cy="320040"/>
          </a:xfrm>
          <a:prstGeom prst="ellipse">
            <a:avLst/>
          </a:prstGeom>
          <a:solidFill>
            <a:srgbClr val="3B7EF7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4871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2423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Mobile Completo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2651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Installare PWA → Login → Prendere urgenza → Navigare → Iniziare → Risolvere con note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0" y="24871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7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017520"/>
            <a:ext cx="8595360" cy="5486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" y="3017520"/>
            <a:ext cx="54864" cy="548640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" y="3127248"/>
            <a:ext cx="320040" cy="320040"/>
          </a:xfrm>
          <a:prstGeom prst="ellipse">
            <a:avLst/>
          </a:prstGeom>
          <a:solidFill>
            <a:srgbClr val="3B7EF7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1272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05840" y="3063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Bot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3291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Eseguire tutti i comandi: /oggi, /vado, /incorso, /risolto, /ordine, inviare foto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772400" y="31272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7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657600"/>
            <a:ext cx="8595360" cy="54864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657600"/>
            <a:ext cx="54864" cy="548640"/>
          </a:xfrm>
          <a:prstGeom prst="rect">
            <a:avLst/>
          </a:prstGeom>
          <a:solidFill>
            <a:srgbClr val="F7B731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920" y="3767328"/>
            <a:ext cx="320040" cy="320040"/>
          </a:xfrm>
          <a:prstGeom prst="ellipse">
            <a:avLst/>
          </a:prstGeom>
          <a:solidFill>
            <a:srgbClr val="F7B731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7673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05840" y="3703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Emergenza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3931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Simulare urgenza critica: SLA breach, escalation automatica, verifica notifiche a catena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772400" y="37673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7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43891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Suggerimento: lavorate in coppie Admin + Tecnico per simulare scenari reali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 Reference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6576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di Accesso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7C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fieldforcemrser2026.github.io/syntoniqa/admin_v1.html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88720" y="16276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7C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fieldforcemrser2026.github.io/syntoniqa/index_v2.html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188366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TG: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88720" y="188366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7C0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@SyntoniqaBot su Telegram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114800" cy="137160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14400"/>
            <a:ext cx="4114800" cy="36576"/>
          </a:xfrm>
          <a:prstGeom prst="rect">
            <a:avLst/>
          </a:prstGeom>
          <a:solidFill>
            <a:srgbClr val="3B7EF7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Comandi Telegram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/vado  /incorso  /risolto  /stato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37760" y="1627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/oggi  /settimana  /ordine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37760" y="18836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 + testo libero → AI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468880"/>
            <a:ext cx="8595360" cy="137160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468880"/>
            <a:ext cx="8595360" cy="36576"/>
          </a:xfrm>
          <a:prstGeom prst="rect">
            <a:avLst/>
          </a:prstGeom>
          <a:solidFill>
            <a:srgbClr val="34D05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06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Urgenze — Cheat Sheet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C30A1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9260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crea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11480" y="3246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Nuova urgenza + cliente + macchina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1874520" y="292608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F7B731"/>
          </a:solidFill>
          <a:ln/>
        </p:spPr>
      </p:sp>
      <p:sp>
        <p:nvSpPr>
          <p:cNvPr id="26" name="Text 24"/>
          <p:cNvSpPr/>
          <p:nvPr/>
        </p:nvSpPr>
        <p:spPr>
          <a:xfrm>
            <a:off x="1874520" y="29260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assegna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828800" y="3246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Seleziona tecnico → notifica TG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3291840" y="292608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17C0EB"/>
          </a:solidFill>
          <a:ln/>
        </p:spPr>
      </p:sp>
      <p:sp>
        <p:nvSpPr>
          <p:cNvPr id="29" name="Text 27"/>
          <p:cNvSpPr/>
          <p:nvPr/>
        </p:nvSpPr>
        <p:spPr>
          <a:xfrm>
            <a:off x="3291840" y="29260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 prende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246120" y="3246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/vado N o pulsante app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709160" y="292608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17C0EB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29260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 inizia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663440" y="3246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/incorso — timer parte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6126480" y="292608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34D058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0" y="29260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 risolve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080760" y="3246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/risolto note — chiusura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7543800" y="292608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/>
        </p:spPr>
      </p:sp>
      <p:sp>
        <p:nvSpPr>
          <p:cNvPr id="38" name="Text 36"/>
          <p:cNvSpPr/>
          <p:nvPr/>
        </p:nvSpPr>
        <p:spPr>
          <a:xfrm>
            <a:off x="7543800" y="29260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chiude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498080" y="3246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Convalida e archivia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274320" y="4023360"/>
            <a:ext cx="8595360" cy="73152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810000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4023360"/>
            <a:ext cx="8595360" cy="36576"/>
          </a:xfrm>
          <a:prstGeom prst="rect">
            <a:avLst/>
          </a:prstGeom>
          <a:solidFill>
            <a:srgbClr val="8854D0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Admin: Marcello Bozzarelli — Telegram + Email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in-app: canale #supporto sempre attivo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Problemi tecnici: descrivere il problema con screenshot nel canale dedicato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30A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Domande?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0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formazione continua sul campo.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Ricordate: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L'app è sempre disponibile — anche come PWA offline (prossima release)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675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Telegram Bot funziona anche senza connessione dati stabile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9684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Ogni azione è tracciata — usate il sistema per tutto il workflow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261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In caso di dubbi, scrivete nel canale #supporto della chat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SYNTONIQA v1.0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fieldforcemrser2026.github.io/syntoniqa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Syntoniqa v1.0 — Training Deck</dc:title>
  <dc:subject>PptxGenJS Presentation</dc:subject>
  <dc:creator>Syntoniqa</dc:creator>
  <cp:lastModifiedBy>Syntoniqa</cp:lastModifiedBy>
  <cp:revision>1</cp:revision>
  <dcterms:created xsi:type="dcterms:W3CDTF">2026-03-03T09:46:15Z</dcterms:created>
  <dcterms:modified xsi:type="dcterms:W3CDTF">2026-03-03T09:46:15Z</dcterms:modified>
</cp:coreProperties>
</file>